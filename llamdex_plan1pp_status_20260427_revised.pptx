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63550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5B6778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303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56A3B"/>
                </a:solidFill>
                <a:latin typeface="Aptos"/>
              </a:defRPr>
            </a:pPr>
            <a:r>
              <a:t>LLAMDEX PLAN-1++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91440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A192F"/>
                </a:solidFill>
                <a:latin typeface="Aptos"/>
              </a:defRPr>
            </a:pPr>
            <a:r>
              <a:t>Privacy-Bounded</a:t>
            </a:r>
            <a:br/>
            <a:r>
              <a:t>Multimodal Injection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C2331"/>
                </a:solidFill>
                <a:latin typeface="Aptos"/>
              </a:defRPr>
            </a:pPr>
            <a:r>
              <a:t>Corrected baselines, architecture status, and the next publishable claim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246120"/>
            <a:ext cx="2194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47288"/>
            <a:ext cx="1865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388F60"/>
                </a:solidFill>
                <a:latin typeface="Aptos"/>
              </a:defRPr>
            </a:pPr>
            <a:r>
              <a:t>85.2%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41063"/>
            <a:ext cx="1865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2331"/>
                </a:solidFill>
                <a:latin typeface="Aptos"/>
              </a:defRPr>
            </a:pPr>
            <a:r>
              <a:t>DINOv2 probe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70248"/>
            <a:ext cx="18653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B6778"/>
                </a:solidFill>
                <a:latin typeface="Aptos"/>
              </a:defRPr>
            </a:pPr>
            <a:r>
              <a:t>corrected DTD baseline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80" y="3246120"/>
            <a:ext cx="2194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9272" y="3447288"/>
            <a:ext cx="1865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1787B"/>
                </a:solidFill>
                <a:latin typeface="Aptos"/>
              </a:defRPr>
            </a:pPr>
            <a:r>
              <a:t>82.0%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9272" y="3941063"/>
            <a:ext cx="1865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2331"/>
                </a:solidFill>
                <a:latin typeface="Aptos"/>
              </a:defRPr>
            </a:pPr>
            <a:r>
              <a:t>CLIP probe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272" y="4270248"/>
            <a:ext cx="18653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B6778"/>
                </a:solidFill>
                <a:latin typeface="Aptos"/>
              </a:defRPr>
            </a:pPr>
            <a:r>
              <a:t>corrected DTD baseline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59552" y="3246120"/>
            <a:ext cx="2194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24144" y="3447288"/>
            <a:ext cx="1865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A192F"/>
                </a:solidFill>
                <a:latin typeface="Aptos"/>
              </a:defRPr>
            </a:pPr>
            <a:r>
              <a:t>98.4%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24144" y="3941063"/>
            <a:ext cx="18653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C2331"/>
                </a:solidFill>
                <a:latin typeface="Aptos"/>
              </a:defRPr>
            </a:pPr>
            <a:r>
              <a:t>Yes/no 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24144" y="4270248"/>
            <a:ext cx="18653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B6778"/>
                </a:solidFill>
                <a:latin typeface="Aptos"/>
              </a:defRPr>
            </a:pPr>
            <a:r>
              <a:t>router-parallel runs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5230368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5B6778"/>
                </a:solidFill>
                <a:latin typeface="Aptos"/>
              </a:defRPr>
            </a:pPr>
            <a:r>
              <a:t>Advisor / research group update</a:t>
            </a:r>
            <a:br/>
            <a:r>
              <a:t>April 28,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63550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5B6778"/>
                </a:solidFill>
                <a:latin typeface="Aptos"/>
              </a:defRPr>
            </a:pPr>
            <a:r>
              <a:t>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92F"/>
                </a:solidFill>
                <a:latin typeface="Aptos Display"/>
              </a:defRPr>
            </a:pPr>
            <a:r>
              <a:t>One-slide status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6400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2331"/>
                </a:solidFill>
                <a:latin typeface="Aptos"/>
              </a:defRPr>
            </a:pPr>
            <a:r>
              <a:t>Architecture direction is intact: private client evidence is injected into a frozen server model through small trainable adapters.</a:t>
            </a:r>
          </a:p>
          <a:p>
            <a:pPr>
              <a:spcAft>
                <a:spcPts val="700"/>
              </a:spcAft>
              <a:defRPr sz="1800">
                <a:solidFill>
                  <a:srgbClr val="1C2331"/>
                </a:solidFill>
                <a:latin typeface="Aptos"/>
              </a:defRPr>
            </a:pPr>
            <a:r>
              <a:t>Evaluation is stricter now: DTD and Oxford labels use real dataset ontologies, and CODE=label parsing is fixed.</a:t>
            </a:r>
          </a:p>
          <a:p>
            <a:pPr>
              <a:spcAft>
                <a:spcPts val="700"/>
              </a:spcAft>
              <a:defRPr sz="1800">
                <a:solidFill>
                  <a:srgbClr val="1C2331"/>
                </a:solidFill>
                <a:latin typeface="Aptos"/>
              </a:defRPr>
            </a:pPr>
            <a:r>
              <a:t>The baseline story changed: adapted representation baselines are strong and are the correct comparator.</a:t>
            </a:r>
          </a:p>
          <a:p>
            <a:pPr>
              <a:spcAft>
                <a:spcPts val="700"/>
              </a:spcAft>
              <a:defRPr sz="1800">
                <a:solidFill>
                  <a:srgbClr val="1C2331"/>
                </a:solidFill>
                <a:latin typeface="Aptos"/>
              </a:defRPr>
            </a:pPr>
            <a:r>
              <a:t>Publishable framing should be privacy-bounded adaptation and grounded behavior, not image-classification SOTA yet.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417320"/>
            <a:ext cx="35204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7848" y="1581912"/>
            <a:ext cx="31181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56A3B"/>
                </a:solidFill>
                <a:latin typeface="Aptos"/>
              </a:defRPr>
            </a:pPr>
            <a:r>
              <a:t>Claim boundary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192024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C2331"/>
                </a:solidFill>
                <a:latin typeface="Aptos"/>
              </a:defRPr>
            </a:pPr>
            <a:r>
              <a:t>Can say: auditable benchmark pipeline and working injection policies.</a:t>
            </a:r>
          </a:p>
          <a:p>
            <a:pPr>
              <a:spcAft>
                <a:spcPts val="700"/>
              </a:spcAft>
              <a:defRPr sz="1400">
                <a:solidFill>
                  <a:srgbClr val="1C2331"/>
                </a:solidFill>
                <a:latin typeface="Aptos"/>
              </a:defRPr>
            </a:pPr>
            <a:r>
              <a:t>Cannot say yet: SOTA DTD classification.</a:t>
            </a:r>
          </a:p>
          <a:p>
            <a:pPr>
              <a:spcAft>
                <a:spcPts val="700"/>
              </a:spcAft>
              <a:defRPr sz="1400">
                <a:solidFill>
                  <a:srgbClr val="1C2331"/>
                </a:solidFill>
                <a:latin typeface="Aptos"/>
              </a:defRPr>
            </a:pPr>
            <a:r>
              <a:t>Need next: retrain connector under corrected labels.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63550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5B6778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92F"/>
                </a:solidFill>
                <a:latin typeface="Aptos Display"/>
              </a:defRPr>
            </a:pPr>
            <a:r>
              <a:t>Research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34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192F"/>
                </a:solidFill>
                <a:latin typeface="Aptos"/>
              </a:defRPr>
            </a:pPr>
            <a:r>
              <a:t>Can we adapt a frozen multimodal LLM without sending private raw data to the server?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057400"/>
            <a:ext cx="30632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2677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1787B"/>
                </a:solidFill>
                <a:latin typeface="Aptos"/>
              </a:defRPr>
            </a:pPr>
            <a:r>
              <a:t>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2788920"/>
            <a:ext cx="2560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C2331"/>
                </a:solidFill>
                <a:latin typeface="Aptos"/>
              </a:defRPr>
            </a:pPr>
            <a:r>
              <a:t>private image</a:t>
            </a:r>
            <a:br/>
            <a:r>
              <a:t>local expert</a:t>
            </a:r>
            <a:br/>
            <a:r>
              <a:t>evidence bundle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59" y="2057400"/>
            <a:ext cx="30632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10327" y="22677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56A3B"/>
                </a:solidFill>
                <a:latin typeface="Aptos"/>
              </a:defRPr>
            </a:pPr>
            <a:r>
              <a:t>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7" y="2788920"/>
            <a:ext cx="2560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C2331"/>
                </a:solidFill>
                <a:latin typeface="Aptos"/>
              </a:defRPr>
            </a:pPr>
            <a:r>
              <a:t>compact evidence only</a:t>
            </a:r>
            <a:br/>
            <a:r>
              <a:t>manifested contract</a:t>
            </a:r>
            <a:br/>
            <a:r>
              <a:t>no raw image upload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2057400"/>
            <a:ext cx="30632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59368" y="22677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192F"/>
                </a:solidFill>
                <a:latin typeface="Aptos"/>
              </a:defRPr>
            </a:pPr>
            <a:r>
              <a:t>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59368" y="2788920"/>
            <a:ext cx="2560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C2331"/>
                </a:solidFill>
                <a:latin typeface="Aptos"/>
              </a:defRPr>
            </a:pPr>
            <a:r>
              <a:t>frozen backbone</a:t>
            </a:r>
            <a:br/>
            <a:r>
              <a:t>connector/router</a:t>
            </a:r>
            <a:br/>
            <a:r>
              <a:t>constrained 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749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5B6778"/>
                </a:solidFill>
                <a:latin typeface="Aptos"/>
              </a:defRPr>
            </a:pPr>
            <a:r>
              <a:t>Evaluation target: compare injection policies against strong local representation and API baselines.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63550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5B6778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92F"/>
                </a:solidFill>
                <a:latin typeface="Aptos Display"/>
              </a:defRPr>
            </a:pPr>
            <a:r>
              <a:t>System overview</a:t>
            </a:r>
          </a:p>
        </p:txBody>
      </p:sp>
      <p:pic>
        <p:nvPicPr>
          <p:cNvPr id="6" name="Picture 5" descr="server_clien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234440"/>
            <a:ext cx="996696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63550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5B6778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92F"/>
                </a:solidFill>
                <a:latin typeface="Aptos Display"/>
              </a:defRPr>
            </a:pPr>
            <a:r>
              <a:t>Injection mechanisms</a:t>
            </a:r>
          </a:p>
        </p:txBody>
      </p:sp>
      <p:pic>
        <p:nvPicPr>
          <p:cNvPr id="6" name="Picture 5" descr="injection_mechanis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78992"/>
            <a:ext cx="1060704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63550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5B6778"/>
                </a:solidFill>
                <a:latin typeface="Aptos"/>
              </a:defRPr>
            </a:pPr>
            <a:r>
              <a:t>POLICIES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92F"/>
                </a:solidFill>
                <a:latin typeface="Aptos Display"/>
              </a:defRPr>
            </a:pPr>
            <a:r>
              <a:t>Policy variants under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50292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399032"/>
            <a:ext cx="4626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56A3B"/>
                </a:solidFill>
                <a:latin typeface="Aptos"/>
              </a:defRPr>
            </a:pPr>
            <a:r>
              <a:t>Pre-FFN router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828800"/>
            <a:ext cx="4389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C2331"/>
                </a:solidFill>
                <a:latin typeface="Aptos"/>
              </a:defRPr>
            </a:pPr>
            <a:r>
              <a:t>Injects evidence before the feed-forward block.</a:t>
            </a:r>
          </a:p>
          <a:p>
            <a:pPr>
              <a:spcAft>
                <a:spcPts val="700"/>
              </a:spcAft>
              <a:defRPr sz="1500">
                <a:solidFill>
                  <a:srgbClr val="1C2331"/>
                </a:solidFill>
                <a:latin typeface="Aptos"/>
              </a:defRPr>
            </a:pPr>
            <a:r>
              <a:t>Can improve task routing and answer selection.</a:t>
            </a:r>
          </a:p>
          <a:p>
            <a:pPr>
              <a:spcAft>
                <a:spcPts val="700"/>
              </a:spcAft>
              <a:defRPr sz="1500">
                <a:solidFill>
                  <a:srgbClr val="1C2331"/>
                </a:solidFill>
                <a:latin typeface="Aptos"/>
              </a:defRPr>
            </a:pPr>
            <a:r>
              <a:t>Current runs: slightly higher fine-grained and grounded-generation accuracy.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34440"/>
            <a:ext cx="50292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399032"/>
            <a:ext cx="46268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56A3B"/>
                </a:solidFill>
                <a:latin typeface="Aptos"/>
              </a:defRPr>
            </a:pPr>
            <a:r>
              <a:t>Post-attn-layers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828800"/>
            <a:ext cx="4389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C2331"/>
                </a:solidFill>
                <a:latin typeface="Aptos"/>
              </a:defRPr>
            </a:pPr>
            <a:r>
              <a:t>Injects after attention across layers.</a:t>
            </a:r>
          </a:p>
          <a:p>
            <a:pPr>
              <a:spcAft>
                <a:spcPts val="700"/>
              </a:spcAft>
              <a:defRPr sz="1500">
                <a:solidFill>
                  <a:srgbClr val="1C2331"/>
                </a:solidFill>
                <a:latin typeface="Aptos"/>
              </a:defRPr>
            </a:pPr>
            <a:r>
              <a:t>Better for nonempty and faithful rationales.</a:t>
            </a:r>
          </a:p>
          <a:p>
            <a:pPr>
              <a:spcAft>
                <a:spcPts val="700"/>
              </a:spcAft>
              <a:defRPr sz="1500">
                <a:solidFill>
                  <a:srgbClr val="1C2331"/>
                </a:solidFill>
                <a:latin typeface="Aptos"/>
              </a:defRPr>
            </a:pPr>
            <a:r>
              <a:t>Current runs: much stronger rationale behavior.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97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56A3B"/>
                </a:solidFill>
                <a:latin typeface="Aptos"/>
              </a:defRPr>
            </a:pPr>
            <a:r>
              <a:t>Decision point: answer accuracy and rationale faithfulness are currently optimized by different injection sites.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63550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5B6778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92F"/>
                </a:solidFill>
                <a:latin typeface="Aptos Display"/>
              </a:defRPr>
            </a:pPr>
            <a:r>
              <a:t>Evaluation protocol now has guardrails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234440"/>
          <a:ext cx="6675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60"/>
                <a:gridCol w="3337560"/>
              </a:tblGrid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Axis</a:t>
                      </a:r>
                    </a:p>
                  </a:txBody>
                  <a:tcPr marL="54864" marR="54864" marT="27432" marB="27432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Current protocol</a:t>
                      </a:r>
                    </a:p>
                  </a:txBody>
                  <a:tcPr marL="54864" marR="54864" marT="27432" marB="27432"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Fine-grained classification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DTD texture labels; Oxford-IIIT Pet labels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Strict yes/no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Binary visual assertions with constrained decoding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Population estimation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Numeric/relative estimation with MAE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Grounded generation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Answer plus rationale/evidence consistency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909560" y="1234440"/>
            <a:ext cx="329184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0728" y="1399032"/>
            <a:ext cx="28895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56A3B"/>
                </a:solidFill>
                <a:latin typeface="Aptos"/>
              </a:defRPr>
            </a:pPr>
            <a:r>
              <a:t>New guardrails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719072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1C2331"/>
                </a:solidFill>
                <a:latin typeface="Aptos"/>
              </a:defRPr>
            </a:pPr>
            <a:r>
              <a:t>Real class-name ontologies.</a:t>
            </a:r>
          </a:p>
          <a:p>
            <a:pPr>
              <a:spcAft>
                <a:spcPts val="700"/>
              </a:spcAft>
              <a:defRPr sz="1300">
                <a:solidFill>
                  <a:srgbClr val="1C2331"/>
                </a:solidFill>
                <a:latin typeface="Aptos"/>
              </a:defRPr>
            </a:pPr>
            <a:r>
              <a:t>Robust CODE=label parser.</a:t>
            </a:r>
          </a:p>
          <a:p>
            <a:pPr>
              <a:spcAft>
                <a:spcPts val="700"/>
              </a:spcAft>
              <a:defRPr sz="1300">
                <a:solidFill>
                  <a:srgbClr val="1C2331"/>
                </a:solidFill>
                <a:latin typeface="Aptos"/>
              </a:defRPr>
            </a:pPr>
            <a:r>
              <a:t>Raw prediction audit JSONL.</a:t>
            </a:r>
          </a:p>
          <a:p>
            <a:pPr>
              <a:spcAft>
                <a:spcPts val="700"/>
              </a:spcAft>
              <a:defRPr sz="1300">
                <a:solidFill>
                  <a:srgbClr val="1C2331"/>
                </a:solidFill>
                <a:latin typeface="Aptos"/>
              </a:defRPr>
            </a:pPr>
            <a:r>
              <a:t>DINOv2 and CLIP probes.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983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192F"/>
                </a:solidFill>
                <a:latin typeface="Aptos"/>
              </a:defRPr>
            </a:pPr>
            <a:r>
              <a:t>This is the difference between a demo benchmark and a defensible research artifact.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63550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5B6778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92F"/>
                </a:solidFill>
                <a:latin typeface="Aptos Display"/>
              </a:defRPr>
            </a:pPr>
            <a:r>
              <a:t>Baseline audit: why the old result was too 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80160"/>
            <a:ext cx="6583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2331"/>
                </a:solidFill>
                <a:latin typeface="Aptos"/>
              </a:defRPr>
            </a:pPr>
            <a:r>
              <a:t>DTD class names were placeholders, so old zero-shot prompts did not encode the real texture label space.</a:t>
            </a:r>
          </a:p>
          <a:p>
            <a:pPr>
              <a:spcAft>
                <a:spcPts val="700"/>
              </a:spcAft>
              <a:defRPr sz="1700">
                <a:solidFill>
                  <a:srgbClr val="1C2331"/>
                </a:solidFill>
                <a:latin typeface="Aptos"/>
              </a:defRPr>
            </a:pPr>
            <a:r>
              <a:t>Some CODE=label responses were parsed by the label text rather than the option code.</a:t>
            </a:r>
          </a:p>
          <a:p>
            <a:pPr>
              <a:spcAft>
                <a:spcPts val="700"/>
              </a:spcAft>
              <a:defRPr sz="1700">
                <a:solidFill>
                  <a:srgbClr val="1C2331"/>
                </a:solidFill>
                <a:latin typeface="Aptos"/>
              </a:defRPr>
            </a:pPr>
            <a:r>
              <a:t>Earlier slides mixed current rows with stale artifacts and historical API numbers.</a:t>
            </a:r>
          </a:p>
          <a:p>
            <a:pPr>
              <a:spcAft>
                <a:spcPts val="700"/>
              </a:spcAft>
              <a:defRPr sz="1700">
                <a:solidFill>
                  <a:srgbClr val="1C2331"/>
                </a:solidFill>
                <a:latin typeface="Aptos"/>
              </a:defRPr>
            </a:pPr>
            <a:r>
              <a:t>Fresh API rerun is blocked by quota, so API numbers must be labeled historical until rerun.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325880"/>
            <a:ext cx="342900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19288" y="1490472"/>
            <a:ext cx="30266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56A3B"/>
                </a:solidFill>
                <a:latin typeface="Aptos"/>
              </a:defRPr>
            </a:pPr>
            <a:r>
              <a:t>Publishable correction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82880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C2331"/>
                </a:solidFill>
                <a:latin typeface="Aptos"/>
              </a:defRPr>
            </a:pPr>
            <a:r>
              <a:t>Corrected labels.</a:t>
            </a:r>
          </a:p>
          <a:p>
            <a:pPr>
              <a:spcAft>
                <a:spcPts val="700"/>
              </a:spcAft>
              <a:defRPr sz="1400">
                <a:solidFill>
                  <a:srgbClr val="1C2331"/>
                </a:solidFill>
                <a:latin typeface="Aptos"/>
              </a:defRPr>
            </a:pPr>
            <a:r>
              <a:t>Parser regression tests.</a:t>
            </a:r>
          </a:p>
          <a:p>
            <a:pPr>
              <a:spcAft>
                <a:spcPts val="700"/>
              </a:spcAft>
              <a:defRPr sz="1400">
                <a:solidFill>
                  <a:srgbClr val="1C2331"/>
                </a:solidFill>
                <a:latin typeface="Aptos"/>
              </a:defRPr>
            </a:pPr>
            <a:r>
              <a:t>Auditable raw predictions.</a:t>
            </a:r>
          </a:p>
          <a:p>
            <a:pPr>
              <a:spcAft>
                <a:spcPts val="700"/>
              </a:spcAft>
              <a:defRPr sz="1400">
                <a:solidFill>
                  <a:srgbClr val="1C2331"/>
                </a:solidFill>
                <a:latin typeface="Aptos"/>
              </a:defRPr>
            </a:pPr>
            <a:r>
              <a:t>Representation baselines included.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63550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5B6778"/>
                </a:solidFill>
                <a:latin typeface="Aptos"/>
              </a:defRPr>
            </a:pPr>
            <a:r>
              <a:t>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92F"/>
                </a:solidFill>
                <a:latin typeface="Aptos Display"/>
              </a:defRPr>
            </a:pPr>
            <a:r>
              <a:t>Corrected DTD baseline snapshot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07899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B6778"/>
                </a:solidFill>
                <a:latin typeface="Aptos"/>
              </a:defRPr>
            </a:pPr>
            <a:r>
              <a:t>One-shot semantic-v2 protocol, 128 eval images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63040"/>
          <a:ext cx="1088136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2720340"/>
                <a:gridCol w="2720340"/>
                <a:gridCol w="2720340"/>
              </a:tblGrid>
              <a:tr h="483325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Method</a:t>
                      </a:r>
                    </a:p>
                  </a:txBody>
                  <a:tcPr marL="54864" marR="54864" marT="27432" marB="27432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Acc.</a:t>
                      </a:r>
                    </a:p>
                  </a:txBody>
                  <a:tcPr marL="54864" marR="54864" marT="27432" marB="27432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Macro-F1</a:t>
                      </a:r>
                    </a:p>
                  </a:txBody>
                  <a:tcPr marL="54864" marR="54864" marT="27432" marB="27432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Reading</a:t>
                      </a:r>
                    </a:p>
                  </a:txBody>
                  <a:tcPr marL="54864" marR="54864" marT="27432" marB="27432">
                    <a:solidFill>
                      <a:srgbClr val="0A192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DINOv2 linear probe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85.2%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79.2%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strong local baseline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CLIP linear probe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82.0%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77.1%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strong local baseline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Current injection checkpoint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9.4%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n/a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stale/mismatched row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Caption + LLM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7.0%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2.0%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weak for texture taxonomy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LLM only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3.1%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0.2%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near random over 47 classes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8333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Frozen VLM prompts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2-3%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0-1%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prompting is insufficient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8680" y="525780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56A3B"/>
                </a:solidFill>
                <a:latin typeface="Aptos"/>
              </a:defRPr>
            </a:pPr>
            <a:r>
              <a:t>Main reading: the meaningful baseline is adapted visual representation performance, not zero-shot chat prompting.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63550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5B6778"/>
                </a:solidFill>
                <a:latin typeface="Aptos"/>
              </a:defRPr>
            </a:pPr>
            <a:r>
              <a:t>TASK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92F"/>
                </a:solidFill>
                <a:latin typeface="Aptos Display"/>
              </a:defRPr>
            </a:pPr>
            <a:r>
              <a:t>Task-matrix connector status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298448"/>
          <a:ext cx="1078992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47679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 marL="54864" marR="54864" marT="27432" marB="27432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Pre-FFN</a:t>
                      </a:r>
                    </a:p>
                  </a:txBody>
                  <a:tcPr marL="54864" marR="54864" marT="27432" marB="27432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Post-attn</a:t>
                      </a:r>
                    </a:p>
                  </a:txBody>
                  <a:tcPr marL="54864" marR="54864" marT="27432" marB="27432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Reading</a:t>
                      </a:r>
                    </a:p>
                  </a:txBody>
                  <a:tcPr marL="54864" marR="54864" marT="27432" marB="27432">
                    <a:solidFill>
                      <a:srgbClr val="0A192F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Fine-grained acc.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53.9%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51.2%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pre-FFN slightly higher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Strict yes/no acc.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98.4%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98.4%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both strong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Population MAE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0.0228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0.0228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no separation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Grounded-gen acc.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55.5%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53.9%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similar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Rationale nonempty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6.8%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72.4%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post-attn much better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7679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Rationale faithful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5.7%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29.2%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post-attn much better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13892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192F"/>
                </a:solidFill>
                <a:latin typeface="Aptos"/>
              </a:defRPr>
            </a:pPr>
            <a:r>
              <a:t>Takeaway: injection is useful across the task matrix, but the same site does not optimize classification and rationales.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63550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5B6778"/>
                </a:solidFill>
                <a:latin typeface="Aptos"/>
              </a:defRPr>
            </a:pPr>
            <a:r>
              <a:t>CLAIMS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92F"/>
                </a:solidFill>
                <a:latin typeface="Aptos Display"/>
              </a:defRPr>
            </a:pPr>
            <a:r>
              <a:t>Current claim boundary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50749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399032"/>
            <a:ext cx="4672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56A3B"/>
                </a:solidFill>
                <a:latin typeface="Aptos"/>
              </a:defRPr>
            </a:pPr>
            <a:r>
              <a:t>Can say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783080"/>
            <a:ext cx="4434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C2331"/>
                </a:solidFill>
                <a:latin typeface="Aptos"/>
              </a:defRPr>
            </a:pPr>
            <a:r>
              <a:t>Privacy-bounded client/server evidence-injection contract is implemented.</a:t>
            </a:r>
          </a:p>
          <a:p>
            <a:pPr>
              <a:spcAft>
                <a:spcPts val="700"/>
              </a:spcAft>
              <a:defRPr sz="1500">
                <a:solidFill>
                  <a:srgbClr val="1C2331"/>
                </a:solidFill>
                <a:latin typeface="Aptos"/>
              </a:defRPr>
            </a:pPr>
            <a:r>
              <a:t>Benchmark pipeline now has auditable labels, parsing, and raw predictions.</a:t>
            </a:r>
          </a:p>
          <a:p>
            <a:pPr>
              <a:spcAft>
                <a:spcPts val="700"/>
              </a:spcAft>
              <a:defRPr sz="1500">
                <a:solidFill>
                  <a:srgbClr val="1C2331"/>
                </a:solidFill>
                <a:latin typeface="Aptos"/>
              </a:defRPr>
            </a:pPr>
            <a:r>
              <a:t>Pre-FFN and post-attn injection show distinct strengths across task types.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34440"/>
            <a:ext cx="50749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399032"/>
            <a:ext cx="467258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56A3B"/>
                </a:solidFill>
                <a:latin typeface="Aptos"/>
              </a:defRPr>
            </a:pPr>
            <a:r>
              <a:t>Should not say yet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783080"/>
            <a:ext cx="4434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C2331"/>
                </a:solidFill>
                <a:latin typeface="Aptos"/>
              </a:defRPr>
            </a:pPr>
            <a:r>
              <a:t>Not SOTA on DTD classification.</a:t>
            </a:r>
          </a:p>
          <a:p>
            <a:pPr>
              <a:spcAft>
                <a:spcPts val="700"/>
              </a:spcAft>
              <a:defRPr sz="1500">
                <a:solidFill>
                  <a:srgbClr val="1C2331"/>
                </a:solidFill>
                <a:latin typeface="Aptos"/>
              </a:defRPr>
            </a:pPr>
            <a:r>
              <a:t>Not apples-to-apples against current API models until quota issue is resolved.</a:t>
            </a:r>
          </a:p>
          <a:p>
            <a:pPr>
              <a:spcAft>
                <a:spcPts val="700"/>
              </a:spcAft>
              <a:defRPr sz="1500">
                <a:solidFill>
                  <a:srgbClr val="1C2331"/>
                </a:solidFill>
                <a:latin typeface="Aptos"/>
              </a:defRPr>
            </a:pPr>
            <a:r>
              <a:t>Not final connector result until retrained under corrected semantic labels.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63550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5B6778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92F"/>
                </a:solidFill>
                <a:latin typeface="Aptos Display"/>
              </a:defRPr>
            </a:pPr>
            <a:r>
              <a:t>Publishable path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234440"/>
          <a:ext cx="10835637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79"/>
                <a:gridCol w="3611879"/>
                <a:gridCol w="3611879"/>
              </a:tblGrid>
              <a:tr h="5562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Step</a:t>
                      </a:r>
                    </a:p>
                  </a:txBody>
                  <a:tcPr marL="54864" marR="54864" marT="27432" marB="27432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Output needed</a:t>
                      </a:r>
                    </a:p>
                  </a:txBody>
                  <a:tcPr marL="54864" marR="54864" marT="27432" marB="27432"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Why it matters</a:t>
                      </a:r>
                    </a:p>
                  </a:txBody>
                  <a:tcPr marL="54864" marR="54864" marT="27432" marB="27432">
                    <a:solidFill>
                      <a:srgbClr val="0A192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Retrain connector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new injection rows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fair comparison to DINOv2/CLIP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Rerun API baseline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current external comparator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avoid stale overclaiming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Add audit appendix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raw predictions + confusion slices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defensible failure analysis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Compare policies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pre-FFN vs post-attn same protocol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supports architecture claim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Freeze manifest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configs, commits, run paths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C2331"/>
                          </a:solidFill>
                          <a:latin typeface="Aptos"/>
                        </a:defRPr>
                      </a:pPr>
                      <a:r>
                        <a:t>reproducible report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14807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56A3B"/>
                </a:solidFill>
                <a:latin typeface="Aptos"/>
              </a:defRPr>
            </a:pPr>
            <a:r>
              <a:t>Target claim: privacy-bounded connector adaptation with grounded output, not universal image-classification SOTA.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635508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5B6778"/>
                </a:solidFill>
                <a:latin typeface="Aptos"/>
              </a:defRPr>
            </a:pPr>
            <a: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1148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92F"/>
                </a:solidFill>
                <a:latin typeface="Aptos Display"/>
              </a:defRPr>
            </a:pPr>
            <a:r>
              <a:t>Tomorrow's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7498079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2331"/>
                </a:solidFill>
                <a:latin typeface="Aptos"/>
              </a:defRPr>
            </a:pPr>
            <a:r>
              <a:t>Is the publishable claim better framed as privacy-bounded adaptation rather than classification SOTA?</a:t>
            </a:r>
          </a:p>
          <a:p>
            <a:pPr>
              <a:spcAft>
                <a:spcPts val="700"/>
              </a:spcAft>
              <a:defRPr sz="1800">
                <a:solidFill>
                  <a:srgbClr val="1C2331"/>
                </a:solidFill>
                <a:latin typeface="Aptos"/>
              </a:defRPr>
            </a:pPr>
            <a:r>
              <a:t>Which comparator should be mandatory: DINOv2/CLIP probes, API VLMs, or both?</a:t>
            </a:r>
          </a:p>
          <a:p>
            <a:pPr>
              <a:spcAft>
                <a:spcPts val="700"/>
              </a:spcAft>
              <a:defRPr sz="1800">
                <a:solidFill>
                  <a:srgbClr val="1C2331"/>
                </a:solidFill>
                <a:latin typeface="Aptos"/>
              </a:defRPr>
            </a:pPr>
            <a:r>
              <a:t>Should the next connector training optimize classification first, rationale faithfulness first, or a multi-objective mix?</a:t>
            </a:r>
          </a:p>
          <a:p>
            <a:pPr>
              <a:spcAft>
                <a:spcPts val="700"/>
              </a:spcAft>
              <a:defRPr sz="1800">
                <a:solidFill>
                  <a:srgbClr val="1C2331"/>
                </a:solidFill>
                <a:latin typeface="Aptos"/>
              </a:defRPr>
            </a:pPr>
            <a:r>
              <a:t>What privacy threat-model detail is needed before writing the paper section?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1417320"/>
            <a:ext cx="24231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33688" y="1581912"/>
            <a:ext cx="2020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56A3B"/>
                </a:solidFill>
                <a:latin typeface="Aptos"/>
              </a:defRPr>
            </a:pPr>
            <a:r>
              <a:t>Artifact anchors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1938528"/>
            <a:ext cx="1828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C2331"/>
                </a:solidFill>
                <a:latin typeface="Aptos"/>
              </a:defRPr>
            </a:pPr>
            <a:r>
              <a:t>Corrected DTD baseline</a:t>
            </a:r>
            <a:br/>
            <a:r>
              <a:t>Task-matrix pre-FFN</a:t>
            </a:r>
            <a:br/>
            <a:r>
              <a:t>Task-matrix post-attn</a:t>
            </a:r>
            <a:br/>
            <a:r>
              <a:t>API rerun: quota-blocked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