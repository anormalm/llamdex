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slideLayout" Target="../slideLayouts/slideLayout1.xml"/><Relationship Id="rId4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04495"/>
            <a:ext cx="81537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Llamdex Plan-1++: Privacy-Bounded Multimodal Injection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01345"/>
            <a:ext cx="7467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Update for Current Model and Benchmarking Stack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35970" y="304495"/>
            <a:ext cx="100584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7, 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83850" y="514807"/>
            <a:ext cx="10579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7162495" cy="4457700"/>
          </a:xfrm>
          <a:prstGeom prst="roundRect">
            <a:avLst>
              <a:gd name="adj" fmla="val 70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3933" y="1304849"/>
            <a:ext cx="6624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Updates 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3478" b="-13478"/>
          <a:stretch/>
        </p:blipFill>
        <p:spPr>
          <a:xfrm>
            <a:off x="619049" y="1340510"/>
            <a:ext cx="105156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9049" y="1580998"/>
            <a:ext cx="3362249" cy="599846"/>
          </a:xfrm>
          <a:prstGeom prst="roundRect">
            <a:avLst>
              <a:gd name="adj" fmla="val 29036"/>
            </a:avLst>
          </a:prstGeom>
          <a:solidFill>
            <a:srgbClr val="F8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619049" y="1580998"/>
            <a:ext cx="28346" cy="599846"/>
          </a:xfrm>
          <a:prstGeom prst="roundRect">
            <a:avLst>
              <a:gd name="adj" fmla="val 61444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1695" y="1695298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Backbone + Router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1904695"/>
            <a:ext cx="332110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pipeline with strict runtime contracts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095598" y="1580998"/>
            <a:ext cx="3362249" cy="599846"/>
          </a:xfrm>
          <a:prstGeom prst="roundRect">
            <a:avLst>
              <a:gd name="adj" fmla="val 29036"/>
            </a:avLst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4095598" y="1580998"/>
            <a:ext cx="28346" cy="599846"/>
          </a:xfrm>
          <a:prstGeom prst="roundRect">
            <a:avLst>
              <a:gd name="adj" fmla="val 61444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38244" y="1695298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Baselines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38244" y="1904695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LoRA-tuned runs + API/local comparison tracks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9049" y="2290572"/>
            <a:ext cx="3362249" cy="599846"/>
          </a:xfrm>
          <a:prstGeom prst="roundRect">
            <a:avLst>
              <a:gd name="adj" fmla="val 29036"/>
            </a:avLst>
          </a:prstGeom>
          <a:solidFill>
            <a:srgbClr val="F8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619049" y="2290572"/>
            <a:ext cx="28346" cy="599846"/>
          </a:xfrm>
          <a:prstGeom prst="roundRect">
            <a:avLst>
              <a:gd name="adj" fmla="val 61444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1695" y="2404872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Injection Variants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61695" y="2614270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post_attn &amp; pre_ffn router_parallel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095598" y="2290572"/>
            <a:ext cx="3362249" cy="599846"/>
          </a:xfrm>
          <a:prstGeom prst="roundRect">
            <a:avLst>
              <a:gd name="adj" fmla="val 29036"/>
            </a:avLst>
          </a:prstGeom>
          <a:solidFill>
            <a:srgbClr val="F8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4095598" y="2290572"/>
            <a:ext cx="28346" cy="599846"/>
          </a:xfrm>
          <a:prstGeom prst="roundRect">
            <a:avLst>
              <a:gd name="adj" fmla="val 614448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38244" y="2404872"/>
            <a:ext cx="3105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Matrix Coverage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238244" y="2614270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Classification, QA, population, reasoning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37083" y="6218834"/>
            <a:ext cx="2018995" cy="342900"/>
          </a:xfrm>
          <a:prstGeom prst="roundRect">
            <a:avLst>
              <a:gd name="adj" fmla="val 8888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8932" y="6352337"/>
            <a:ext cx="75895" cy="85954"/>
          </a:xfrm>
          <a:prstGeom prst="roundRect">
            <a:avLst>
              <a:gd name="adj" fmla="val 1204822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1637" y="6304788"/>
            <a:ext cx="18370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post_attn_router_parallel (A)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647188" y="6209690"/>
            <a:ext cx="1895551" cy="342900"/>
          </a:xfrm>
          <a:prstGeom prst="roundRect">
            <a:avLst>
              <a:gd name="adj" fmla="val 8888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809037" y="6342278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960827" y="6294730"/>
            <a:ext cx="168889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pre_ffn_router_parallel (B)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89958" y="6209690"/>
            <a:ext cx="1695298" cy="342900"/>
          </a:xfrm>
          <a:prstGeom prst="roundRect">
            <a:avLst>
              <a:gd name="adj" fmla="val 8888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52721" y="6342278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04511" y="6294730"/>
            <a:ext cx="145115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pre_attn_overwrite (C)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925105" y="1143000"/>
            <a:ext cx="3810305" cy="4953305"/>
          </a:xfrm>
          <a:prstGeom prst="roundRect">
            <a:avLst>
              <a:gd name="adj" fmla="val 96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01838" y="1304849"/>
            <a:ext cx="32717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Architecture Flow </a:t>
            </a:r>
            <a:endParaRPr lang="en-US" sz="10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1413" b="-21413"/>
          <a:stretch/>
        </p:blipFill>
        <p:spPr>
          <a:xfrm>
            <a:off x="8086954" y="1340510"/>
            <a:ext cx="105156" cy="133502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8086954" y="1580998"/>
            <a:ext cx="3486607" cy="629107"/>
          </a:xfrm>
          <a:prstGeom prst="roundRect">
            <a:avLst>
              <a:gd name="adj" fmla="val 2642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210398" y="1752905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363102" y="1705356"/>
            <a:ext cx="4745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900" dirty="0"/>
          </a:p>
        </p:txBody>
      </p:sp>
      <p:sp>
        <p:nvSpPr>
          <p:cNvPr id="42" name="Text 38"/>
          <p:cNvSpPr txBox="1"/>
          <p:nvPr/>
        </p:nvSpPr>
        <p:spPr>
          <a:xfrm>
            <a:off x="8210398" y="1952244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Images/Notes/Reports</a:t>
            </a:r>
            <a:endParaRPr lang="en-US" sz="8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9773107" y="2316175"/>
            <a:ext cx="114300" cy="152705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8086954" y="2583180"/>
            <a:ext cx="3486607" cy="629107"/>
          </a:xfrm>
          <a:prstGeom prst="roundRect">
            <a:avLst>
              <a:gd name="adj" fmla="val 2642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210398" y="2754173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363102" y="2706624"/>
            <a:ext cx="4846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8210398" y="295442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semantic_expert + projector weights</a:t>
            </a:r>
            <a:endParaRPr lang="en-US" sz="80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9773107" y="3318358"/>
            <a:ext cx="114300" cy="152705"/>
          </a:xfrm>
          <a:prstGeom prst="rect">
            <a:avLst/>
          </a:prstGeom>
        </p:spPr>
      </p:pic>
      <p:sp>
        <p:nvSpPr>
          <p:cNvPr id="49" name="Shape 43"/>
          <p:cNvSpPr/>
          <p:nvPr/>
        </p:nvSpPr>
        <p:spPr>
          <a:xfrm>
            <a:off x="8086954" y="3585362"/>
            <a:ext cx="3486607" cy="657454"/>
          </a:xfrm>
          <a:prstGeom prst="roundRect">
            <a:avLst>
              <a:gd name="adj" fmla="val 2418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8210398" y="3756355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8363102" y="3708806"/>
            <a:ext cx="103784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Server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8210398" y="3956609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bundle + constrained decoding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1305" y="228600"/>
            <a:ext cx="4562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Llamdex-IMG Overview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381305" y="609905"/>
            <a:ext cx="52486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Privacy-preserving multimodal pipeline with frozen client expert bundles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227" r="-227" t="0" b="0"/>
          <a:stretch/>
        </p:blipFill>
        <p:spPr>
          <a:xfrm>
            <a:off x="10322662" y="347472"/>
            <a:ext cx="1495044" cy="342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322662" y="347472"/>
            <a:ext cx="1495044" cy="342900"/>
          </a:xfrm>
          <a:prstGeom prst="roundRect">
            <a:avLst>
              <a:gd name="adj" fmla="val 118519"/>
            </a:avLst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665562" y="347472"/>
            <a:ext cx="1153058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Preserved 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10484510" y="457200"/>
            <a:ext cx="105156" cy="1143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81305" y="761695"/>
            <a:ext cx="5524805" cy="5772607"/>
          </a:xfrm>
          <a:prstGeom prst="roundRect">
            <a:avLst>
              <a:gd name="adj" fmla="val 68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90449" y="771754"/>
            <a:ext cx="5505602" cy="46634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2" name="Shape 7"/>
          <p:cNvSpPr/>
          <p:nvPr/>
        </p:nvSpPr>
        <p:spPr>
          <a:xfrm>
            <a:off x="390449" y="1228954"/>
            <a:ext cx="5505602" cy="9144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43154" y="886054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604418" y="942746"/>
            <a:ext cx="105156" cy="1143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7649" y="899770"/>
            <a:ext cx="1621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1: Private Client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667451" y="961949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43154" y="1390802"/>
            <a:ext cx="2524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725" b="-725"/>
          <a:stretch/>
        </p:blipFill>
        <p:spPr>
          <a:xfrm>
            <a:off x="543154" y="1638605"/>
            <a:ext cx="65745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62610" y="1638605"/>
            <a:ext cx="43799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</a:t>
            </a:r>
            <a:endParaRPr lang="en-US" sz="8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9049" y="1698955"/>
            <a:ext cx="105156" cy="105156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554" b="-554"/>
          <a:stretch/>
        </p:blipFill>
        <p:spPr>
          <a:xfrm>
            <a:off x="1273759" y="1638605"/>
            <a:ext cx="562356" cy="23774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463954" y="1638605"/>
            <a:ext cx="3721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</a:t>
            </a:r>
            <a:endParaRPr lang="en-US" sz="8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958" b="-1958"/>
          <a:stretch/>
        </p:blipFill>
        <p:spPr>
          <a:xfrm>
            <a:off x="1349654" y="1698955"/>
            <a:ext cx="75895" cy="105156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0" b="-430"/>
          <a:stretch/>
        </p:blipFill>
        <p:spPr>
          <a:xfrm>
            <a:off x="1908353" y="1638605"/>
            <a:ext cx="685800" cy="23774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2127809" y="1638605"/>
            <a:ext cx="46634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</a:t>
            </a:r>
            <a:endParaRPr lang="en-US" sz="8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984248" y="1698955"/>
            <a:ext cx="105156" cy="105156"/>
          </a:xfrm>
          <a:prstGeom prst="rect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702" b="-702"/>
          <a:stretch/>
        </p:blipFill>
        <p:spPr>
          <a:xfrm>
            <a:off x="543154" y="1947672"/>
            <a:ext cx="657454" cy="237744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52551" y="1947672"/>
            <a:ext cx="44805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Tabular </a:t>
            </a:r>
            <a:endParaRPr lang="en-US" sz="8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rcRect l="-1677" r="-1677" t="0" b="0"/>
          <a:stretch/>
        </p:blipFill>
        <p:spPr>
          <a:xfrm>
            <a:off x="619049" y="2008937"/>
            <a:ext cx="95098" cy="105156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543154" y="2295144"/>
            <a:ext cx="2523744" cy="857707"/>
          </a:xfrm>
          <a:prstGeom prst="roundRect">
            <a:avLst>
              <a:gd name="adj" fmla="val 1895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17"/>
          <p:cNvSpPr txBox="1"/>
          <p:nvPr/>
        </p:nvSpPr>
        <p:spPr>
          <a:xfrm>
            <a:off x="800100" y="2409444"/>
            <a:ext cx="2153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Sanitization &amp; QA </a:t>
            </a:r>
            <a:endParaRPr lang="en-US" sz="8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57454" y="2432304"/>
            <a:ext cx="105156" cy="105156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657454" y="2605126"/>
            <a:ext cx="22960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162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PII scrubbing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162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Data quality checks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162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De-identification before release </a:t>
            </a:r>
            <a:endParaRPr lang="en-US" sz="800" dirty="0"/>
          </a:p>
        </p:txBody>
      </p:sp>
      <p:sp>
        <p:nvSpPr>
          <p:cNvPr id="34" name="Shape 19"/>
          <p:cNvSpPr/>
          <p:nvPr/>
        </p:nvSpPr>
        <p:spPr>
          <a:xfrm>
            <a:off x="543154" y="3262579"/>
            <a:ext cx="2523744" cy="714146"/>
          </a:xfrm>
          <a:prstGeom prst="roundRect">
            <a:avLst>
              <a:gd name="adj" fmla="val 27315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0"/>
          <p:cNvSpPr txBox="1"/>
          <p:nvPr/>
        </p:nvSpPr>
        <p:spPr>
          <a:xfrm>
            <a:off x="829361" y="3376879"/>
            <a:ext cx="2124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Expert Training </a:t>
            </a:r>
            <a:endParaRPr lang="en-US" sz="8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rcRect l="-783" r="-783" t="0" b="0"/>
          <a:stretch/>
        </p:blipFill>
        <p:spPr>
          <a:xfrm>
            <a:off x="657454" y="3398825"/>
            <a:ext cx="133502" cy="105156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657454" y="3571646"/>
            <a:ext cx="22960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Train local expert / evidence components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Package exportable bundle </a:t>
            </a:r>
            <a:endParaRPr lang="en-US" sz="800" dirty="0"/>
          </a:p>
        </p:txBody>
      </p:sp>
      <p:sp>
        <p:nvSpPr>
          <p:cNvPr id="38" name="Shape 22"/>
          <p:cNvSpPr/>
          <p:nvPr/>
        </p:nvSpPr>
        <p:spPr>
          <a:xfrm>
            <a:off x="3219602" y="1390802"/>
            <a:ext cx="2523744" cy="2838298"/>
          </a:xfrm>
          <a:prstGeom prst="roundRect">
            <a:avLst>
              <a:gd name="adj" fmla="val 218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23"/>
          <p:cNvSpPr txBox="1"/>
          <p:nvPr/>
        </p:nvSpPr>
        <p:spPr>
          <a:xfrm>
            <a:off x="3485693" y="1514246"/>
            <a:ext cx="21342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 Contents </a:t>
            </a:r>
            <a:endParaRPr lang="en-US" sz="9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rcRect l="-2571" r="-2571" t="0" b="0"/>
          <a:stretch/>
        </p:blipFill>
        <p:spPr>
          <a:xfrm>
            <a:off x="3343046" y="1543507"/>
            <a:ext cx="105156" cy="114300"/>
          </a:xfrm>
          <a:prstGeom prst="rect">
            <a:avLst/>
          </a:prstGeom>
        </p:spPr>
      </p:pic>
      <p:sp>
        <p:nvSpPr>
          <p:cNvPr id="41" name="Shape 24"/>
          <p:cNvSpPr/>
          <p:nvPr/>
        </p:nvSpPr>
        <p:spPr>
          <a:xfrm>
            <a:off x="3343046" y="1762049"/>
            <a:ext cx="2276856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457346" y="1867205"/>
            <a:ext cx="114300" cy="114300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3648456" y="1762049"/>
            <a:ext cx="13432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semantic_expert weights</a:t>
            </a:r>
            <a:endParaRPr lang="en-US" sz="900" dirty="0"/>
          </a:p>
        </p:txBody>
      </p:sp>
      <p:sp>
        <p:nvSpPr>
          <p:cNvPr id="44" name="Shape 26"/>
          <p:cNvSpPr/>
          <p:nvPr/>
        </p:nvSpPr>
        <p:spPr>
          <a:xfrm>
            <a:off x="3343046" y="2124151"/>
            <a:ext cx="2276856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rcRect l="-1911" r="-1911" t="0" b="0"/>
          <a:stretch/>
        </p:blipFill>
        <p:spPr>
          <a:xfrm>
            <a:off x="3457346" y="2229307"/>
            <a:ext cx="133502" cy="114300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3666744" y="2124151"/>
            <a:ext cx="1600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projector / connector weights</a:t>
            </a:r>
            <a:endParaRPr lang="en-US" sz="900" dirty="0"/>
          </a:p>
        </p:txBody>
      </p:sp>
      <p:sp>
        <p:nvSpPr>
          <p:cNvPr id="47" name="Shape 28"/>
          <p:cNvSpPr/>
          <p:nvPr/>
        </p:nvSpPr>
        <p:spPr>
          <a:xfrm>
            <a:off x="3343046" y="2486254"/>
            <a:ext cx="2276856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rcRect l="-1911" r="-1911" t="0" b="0"/>
          <a:stretch/>
        </p:blipFill>
        <p:spPr>
          <a:xfrm>
            <a:off x="3457346" y="2590495"/>
            <a:ext cx="133502" cy="114300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3666744" y="2486254"/>
            <a:ext cx="11722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fusion_policy weights</a:t>
            </a:r>
            <a:endParaRPr lang="en-US" sz="900" dirty="0"/>
          </a:p>
        </p:txBody>
      </p:sp>
      <p:sp>
        <p:nvSpPr>
          <p:cNvPr id="50" name="Shape 30"/>
          <p:cNvSpPr/>
          <p:nvPr/>
        </p:nvSpPr>
        <p:spPr>
          <a:xfrm>
            <a:off x="3343046" y="2848356"/>
            <a:ext cx="2276856" cy="495605"/>
          </a:xfrm>
          <a:prstGeom prst="roundRect">
            <a:avLst>
              <a:gd name="adj" fmla="val 4257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3457346" y="3038551"/>
            <a:ext cx="114300" cy="114300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3648456" y="2848356"/>
            <a:ext cx="1858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normalization_stats or preprocessing_config</a:t>
            </a:r>
            <a:endParaRPr lang="en-US" sz="900" dirty="0"/>
          </a:p>
        </p:txBody>
      </p:sp>
      <p:sp>
        <p:nvSpPr>
          <p:cNvPr id="53" name="Shape 32"/>
          <p:cNvSpPr/>
          <p:nvPr/>
        </p:nvSpPr>
        <p:spPr>
          <a:xfrm>
            <a:off x="3343046" y="3381451"/>
            <a:ext cx="2276856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3457346" y="3486607"/>
            <a:ext cx="114300" cy="114300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3648456" y="3381451"/>
            <a:ext cx="7342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label_schema</a:t>
            </a:r>
            <a:endParaRPr lang="en-US" sz="900" dirty="0"/>
          </a:p>
        </p:txBody>
      </p:sp>
      <p:sp>
        <p:nvSpPr>
          <p:cNvPr id="56" name="Shape 34"/>
          <p:cNvSpPr/>
          <p:nvPr/>
        </p:nvSpPr>
        <p:spPr>
          <a:xfrm>
            <a:off x="3343046" y="3743554"/>
            <a:ext cx="2276856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rcRect l="-133" r="-133" t="0" b="0"/>
          <a:stretch/>
        </p:blipFill>
        <p:spPr>
          <a:xfrm>
            <a:off x="3457346" y="3847795"/>
            <a:ext cx="85954" cy="114300"/>
          </a:xfrm>
          <a:prstGeom prst="rect">
            <a:avLst/>
          </a:prstGeom>
        </p:spPr>
      </p:pic>
      <p:sp>
        <p:nvSpPr>
          <p:cNvPr id="58" name="Text 35"/>
          <p:cNvSpPr txBox="1"/>
          <p:nvPr/>
        </p:nvSpPr>
        <p:spPr>
          <a:xfrm>
            <a:off x="3619195" y="3743554"/>
            <a:ext cx="12097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compatibility_manifest</a:t>
            </a:r>
            <a:endParaRPr lang="en-US" sz="900" dirty="0"/>
          </a:p>
        </p:txBody>
      </p:sp>
      <p:sp>
        <p:nvSpPr>
          <p:cNvPr id="59" name="Shape 36"/>
          <p:cNvSpPr/>
          <p:nvPr/>
        </p:nvSpPr>
        <p:spPr>
          <a:xfrm>
            <a:off x="543154" y="4343400"/>
            <a:ext cx="52011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37"/>
          <p:cNvSpPr txBox="1"/>
          <p:nvPr/>
        </p:nvSpPr>
        <p:spPr>
          <a:xfrm>
            <a:off x="809244" y="4466844"/>
            <a:ext cx="4810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 Handoff </a:t>
            </a:r>
            <a:endParaRPr lang="en-US" sz="800" dirty="0"/>
          </a:p>
        </p:txBody>
      </p:sp>
      <p:pic>
        <p:nvPicPr>
          <p:cNvPr id="61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666598" y="4489704"/>
            <a:ext cx="105156" cy="105156"/>
          </a:xfrm>
          <a:prstGeom prst="rect">
            <a:avLst/>
          </a:prstGeom>
        </p:spPr>
      </p:pic>
      <p:pic>
        <p:nvPicPr>
          <p:cNvPr id="62" name="Image 22" descr="preencoded.png">    </p:cNvPr>
          <p:cNvPicPr>
            <a:picLocks noChangeAspect="1"/>
          </p:cNvPicPr>
          <p:nvPr/>
        </p:nvPicPr>
        <p:blipFill>
          <a:blip r:embed="rId23"/>
          <a:srcRect l="-1648" r="-1648" t="0" b="0"/>
          <a:stretch/>
        </p:blipFill>
        <p:spPr>
          <a:xfrm>
            <a:off x="666598" y="4731106"/>
            <a:ext cx="85954" cy="95098"/>
          </a:xfrm>
          <a:prstGeom prst="rect">
            <a:avLst/>
          </a:prstGeom>
        </p:spPr>
      </p:pic>
      <p:sp>
        <p:nvSpPr>
          <p:cNvPr id="63" name="Text 38"/>
          <p:cNvSpPr txBox="1"/>
          <p:nvPr/>
        </p:nvSpPr>
        <p:spPr>
          <a:xfrm>
            <a:off x="828446" y="4700930"/>
            <a:ext cx="13944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bundle directory</a:t>
            </a:r>
            <a:endParaRPr lang="en-US" sz="800" dirty="0"/>
          </a:p>
        </p:txBody>
      </p:sp>
      <p:pic>
        <p:nvPicPr>
          <p:cNvPr id="64" name="Image 23" descr="preencoded.png">    </p:cNvPr>
          <p:cNvPicPr>
            <a:picLocks noChangeAspect="1"/>
          </p:cNvPicPr>
          <p:nvPr/>
        </p:nvPicPr>
        <p:blipFill>
          <a:blip r:embed="rId24"/>
          <a:srcRect l="-1648" r="-1648" t="0" b="0"/>
          <a:stretch/>
        </p:blipFill>
        <p:spPr>
          <a:xfrm>
            <a:off x="666598" y="4926787"/>
            <a:ext cx="85954" cy="95098"/>
          </a:xfrm>
          <a:prstGeom prst="rect">
            <a:avLst/>
          </a:prstGeom>
        </p:spPr>
      </p:pic>
      <p:sp>
        <p:nvSpPr>
          <p:cNvPr id="65" name="Text 39"/>
          <p:cNvSpPr txBox="1"/>
          <p:nvPr/>
        </p:nvSpPr>
        <p:spPr>
          <a:xfrm>
            <a:off x="828446" y="4895698"/>
            <a:ext cx="16779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manifest compatibility</a:t>
            </a:r>
            <a:endParaRPr lang="en-US" sz="800" dirty="0"/>
          </a:p>
        </p:txBody>
      </p:sp>
      <p:pic>
        <p:nvPicPr>
          <p:cNvPr id="66" name="Image 24" descr="preencoded.png">    </p:cNvPr>
          <p:cNvPicPr>
            <a:picLocks noChangeAspect="1"/>
          </p:cNvPicPr>
          <p:nvPr/>
        </p:nvPicPr>
        <p:blipFill>
          <a:blip r:embed="rId25"/>
          <a:srcRect l="-1648" r="-1648" t="0" b="0"/>
          <a:stretch/>
        </p:blipFill>
        <p:spPr>
          <a:xfrm>
            <a:off x="3219602" y="4731106"/>
            <a:ext cx="85954" cy="95098"/>
          </a:xfrm>
          <a:prstGeom prst="rect">
            <a:avLst/>
          </a:prstGeom>
        </p:spPr>
      </p:pic>
      <p:sp>
        <p:nvSpPr>
          <p:cNvPr id="67" name="Text 40"/>
          <p:cNvSpPr txBox="1"/>
          <p:nvPr/>
        </p:nvSpPr>
        <p:spPr>
          <a:xfrm>
            <a:off x="3381451" y="4700930"/>
            <a:ext cx="15078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checksum integrity</a:t>
            </a:r>
            <a:endParaRPr lang="en-US" sz="800" dirty="0"/>
          </a:p>
        </p:txBody>
      </p:sp>
      <p:pic>
        <p:nvPicPr>
          <p:cNvPr id="68" name="Image 25" descr="preencoded.png">    </p:cNvPr>
          <p:cNvPicPr>
            <a:picLocks noChangeAspect="1"/>
          </p:cNvPicPr>
          <p:nvPr/>
        </p:nvPicPr>
        <p:blipFill>
          <a:blip r:embed="rId26"/>
          <a:srcRect l="-1648" r="-1648" t="0" b="0"/>
          <a:stretch/>
        </p:blipFill>
        <p:spPr>
          <a:xfrm>
            <a:off x="3219602" y="4926787"/>
            <a:ext cx="85954" cy="95098"/>
          </a:xfrm>
          <a:prstGeom prst="rect">
            <a:avLst/>
          </a:prstGeom>
        </p:spPr>
      </p:pic>
      <p:sp>
        <p:nvSpPr>
          <p:cNvPr id="69" name="Text 41"/>
          <p:cNvSpPr txBox="1"/>
          <p:nvPr/>
        </p:nvSpPr>
        <p:spPr>
          <a:xfrm>
            <a:off x="3381451" y="4895698"/>
            <a:ext cx="20857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raw private artifacts leave client</a:t>
            </a:r>
            <a:endParaRPr lang="en-US" sz="800" dirty="0"/>
          </a:p>
        </p:txBody>
      </p:sp>
      <p:pic>
        <p:nvPicPr>
          <p:cNvPr id="70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-400" b="-400"/>
          <a:stretch/>
        </p:blipFill>
        <p:spPr>
          <a:xfrm>
            <a:off x="5905195" y="3238805"/>
            <a:ext cx="571500" cy="19202"/>
          </a:xfrm>
          <a:prstGeom prst="rect">
            <a:avLst/>
          </a:prstGeom>
        </p:spPr>
      </p:pic>
      <p:sp>
        <p:nvSpPr>
          <p:cNvPr id="71" name="Shape 42"/>
          <p:cNvSpPr/>
          <p:nvPr/>
        </p:nvSpPr>
        <p:spPr>
          <a:xfrm>
            <a:off x="6448349" y="3200400"/>
            <a:ext cx="75895" cy="95098"/>
          </a:xfrm>
          <a:prstGeom prst="rect">
            <a:avLst/>
          </a:prstGeom>
          <a:noFill/>
          <a:ln w="635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Shape 43"/>
          <p:cNvSpPr/>
          <p:nvPr/>
        </p:nvSpPr>
        <p:spPr>
          <a:xfrm>
            <a:off x="6476695" y="761695"/>
            <a:ext cx="5524805" cy="5772607"/>
          </a:xfrm>
          <a:prstGeom prst="roundRect">
            <a:avLst>
              <a:gd name="adj" fmla="val 68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3" name="Shape 44"/>
          <p:cNvSpPr/>
          <p:nvPr/>
        </p:nvSpPr>
        <p:spPr>
          <a:xfrm>
            <a:off x="6486754" y="771754"/>
            <a:ext cx="5505602" cy="4663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4" name="Shape 45"/>
          <p:cNvSpPr/>
          <p:nvPr/>
        </p:nvSpPr>
        <p:spPr>
          <a:xfrm>
            <a:off x="6486754" y="1228954"/>
            <a:ext cx="5505602" cy="914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75" name="Shape 46"/>
          <p:cNvSpPr/>
          <p:nvPr/>
        </p:nvSpPr>
        <p:spPr>
          <a:xfrm>
            <a:off x="6638544" y="886054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6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6696151" y="942746"/>
            <a:ext cx="114300" cy="114300"/>
          </a:xfrm>
          <a:prstGeom prst="rect">
            <a:avLst/>
          </a:prstGeom>
        </p:spPr>
      </p:pic>
      <p:sp>
        <p:nvSpPr>
          <p:cNvPr id="77" name="Text 47"/>
          <p:cNvSpPr txBox="1"/>
          <p:nvPr/>
        </p:nvSpPr>
        <p:spPr>
          <a:xfrm>
            <a:off x="6943954" y="899770"/>
            <a:ext cx="2369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2: Frozen Server Runtime</a:t>
            </a:r>
            <a:endParaRPr lang="en-US" sz="1000" dirty="0"/>
          </a:p>
        </p:txBody>
      </p:sp>
      <p:sp>
        <p:nvSpPr>
          <p:cNvPr id="78" name="Shape 48"/>
          <p:cNvSpPr/>
          <p:nvPr/>
        </p:nvSpPr>
        <p:spPr>
          <a:xfrm>
            <a:off x="11763756" y="961949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49"/>
          <p:cNvSpPr/>
          <p:nvPr/>
        </p:nvSpPr>
        <p:spPr>
          <a:xfrm>
            <a:off x="6638544" y="1390802"/>
            <a:ext cx="2523744" cy="1181405"/>
          </a:xfrm>
          <a:prstGeom prst="roundRect">
            <a:avLst>
              <a:gd name="adj" fmla="val 998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50"/>
          <p:cNvSpPr txBox="1"/>
          <p:nvPr/>
        </p:nvSpPr>
        <p:spPr>
          <a:xfrm>
            <a:off x="6895490" y="1505102"/>
            <a:ext cx="2153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Base LLM </a:t>
            </a:r>
            <a:endParaRPr lang="en-US" sz="800" dirty="0"/>
          </a:p>
        </p:txBody>
      </p:sp>
      <p:pic>
        <p:nvPicPr>
          <p:cNvPr id="81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6752844" y="1527962"/>
            <a:ext cx="105156" cy="105156"/>
          </a:xfrm>
          <a:prstGeom prst="rect">
            <a:avLst/>
          </a:prstGeom>
        </p:spPr>
      </p:pic>
      <p:sp>
        <p:nvSpPr>
          <p:cNvPr id="82" name="Text 51"/>
          <p:cNvSpPr txBox="1"/>
          <p:nvPr/>
        </p:nvSpPr>
        <p:spPr>
          <a:xfrm>
            <a:off x="6752844" y="1738274"/>
            <a:ext cx="2296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Load client-provided bundle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Attach injection policy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Keep uploaded expert weights frozen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Train only allowed connector/routing modules when enabled </a:t>
            </a:r>
            <a:endParaRPr lang="en-US" sz="800" dirty="0"/>
          </a:p>
        </p:txBody>
      </p:sp>
      <p:sp>
        <p:nvSpPr>
          <p:cNvPr id="83" name="Shape 52"/>
          <p:cNvSpPr/>
          <p:nvPr/>
        </p:nvSpPr>
        <p:spPr>
          <a:xfrm>
            <a:off x="6638544" y="2681021"/>
            <a:ext cx="2523744" cy="1304849"/>
          </a:xfrm>
          <a:prstGeom prst="roundRect">
            <a:avLst>
              <a:gd name="adj" fmla="val 818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53"/>
          <p:cNvSpPr txBox="1"/>
          <p:nvPr/>
        </p:nvSpPr>
        <p:spPr>
          <a:xfrm>
            <a:off x="6934810" y="2805379"/>
            <a:ext cx="21049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Steps </a:t>
            </a:r>
            <a:endParaRPr lang="en-US" sz="800" dirty="0"/>
          </a:p>
        </p:txBody>
      </p:sp>
      <p:pic>
        <p:nvPicPr>
          <p:cNvPr id="85" name="Image 29" descr="preencoded.png">    </p:cNvPr>
          <p:cNvPicPr>
            <a:picLocks noChangeAspect="1"/>
          </p:cNvPicPr>
          <p:nvPr/>
        </p:nvPicPr>
        <p:blipFill>
          <a:blip r:embed="rId30"/>
          <a:srcRect l="-783" r="-783" t="0" b="0"/>
          <a:stretch/>
        </p:blipFill>
        <p:spPr>
          <a:xfrm>
            <a:off x="6762902" y="2827325"/>
            <a:ext cx="133502" cy="105156"/>
          </a:xfrm>
          <a:prstGeom prst="rect">
            <a:avLst/>
          </a:prstGeom>
        </p:spPr>
      </p:pic>
      <p:sp>
        <p:nvSpPr>
          <p:cNvPr id="86" name="Shape 54"/>
          <p:cNvSpPr/>
          <p:nvPr/>
        </p:nvSpPr>
        <p:spPr>
          <a:xfrm>
            <a:off x="6762902" y="3038551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55"/>
          <p:cNvSpPr txBox="1"/>
          <p:nvPr/>
        </p:nvSpPr>
        <p:spPr>
          <a:xfrm>
            <a:off x="6762902" y="3038551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88" name="Text 56"/>
          <p:cNvSpPr txBox="1"/>
          <p:nvPr/>
        </p:nvSpPr>
        <p:spPr>
          <a:xfrm>
            <a:off x="7029907" y="3062326"/>
            <a:ext cx="119054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validated bundle</a:t>
            </a:r>
            <a:endParaRPr lang="en-US" sz="800" dirty="0"/>
          </a:p>
        </p:txBody>
      </p:sp>
      <p:sp>
        <p:nvSpPr>
          <p:cNvPr id="89" name="Shape 57"/>
          <p:cNvSpPr/>
          <p:nvPr/>
        </p:nvSpPr>
        <p:spPr>
          <a:xfrm>
            <a:off x="6762902" y="3305556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58"/>
          <p:cNvSpPr txBox="1"/>
          <p:nvPr/>
        </p:nvSpPr>
        <p:spPr>
          <a:xfrm>
            <a:off x="6762902" y="3305556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91" name="Text 59"/>
          <p:cNvSpPr txBox="1"/>
          <p:nvPr/>
        </p:nvSpPr>
        <p:spPr>
          <a:xfrm>
            <a:off x="7029907" y="3329330"/>
            <a:ext cx="19842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 evidence into frozen backbone</a:t>
            </a:r>
            <a:endParaRPr lang="en-US" sz="800" dirty="0"/>
          </a:p>
        </p:txBody>
      </p:sp>
      <p:sp>
        <p:nvSpPr>
          <p:cNvPr id="92" name="Shape 60"/>
          <p:cNvSpPr/>
          <p:nvPr/>
        </p:nvSpPr>
        <p:spPr>
          <a:xfrm>
            <a:off x="6762902" y="3619195"/>
            <a:ext cx="190195" cy="190195"/>
          </a:xfrm>
          <a:prstGeom prst="roundRect">
            <a:avLst>
              <a:gd name="adj" fmla="val 192308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61"/>
          <p:cNvSpPr txBox="1"/>
          <p:nvPr/>
        </p:nvSpPr>
        <p:spPr>
          <a:xfrm>
            <a:off x="6762902" y="3619195"/>
            <a:ext cx="1911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94" name="Text 62"/>
          <p:cNvSpPr txBox="1"/>
          <p:nvPr/>
        </p:nvSpPr>
        <p:spPr>
          <a:xfrm>
            <a:off x="7021678" y="3571646"/>
            <a:ext cx="2019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constrained decoding / answer generation</a:t>
            </a:r>
            <a:endParaRPr lang="en-US" sz="800" dirty="0"/>
          </a:p>
        </p:txBody>
      </p:sp>
      <p:sp>
        <p:nvSpPr>
          <p:cNvPr id="95" name="Shape 63"/>
          <p:cNvSpPr/>
          <p:nvPr/>
        </p:nvSpPr>
        <p:spPr>
          <a:xfrm>
            <a:off x="9315907" y="1390802"/>
            <a:ext cx="2523744" cy="2590495"/>
          </a:xfrm>
          <a:prstGeom prst="roundRect">
            <a:avLst>
              <a:gd name="adj" fmla="val 2188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6" name="Text 64"/>
          <p:cNvSpPr txBox="1"/>
          <p:nvPr/>
        </p:nvSpPr>
        <p:spPr>
          <a:xfrm>
            <a:off x="9477756" y="1514246"/>
            <a:ext cx="2238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</a:t>
            </a:r>
            <a:endParaRPr lang="en-US" sz="800" dirty="0"/>
          </a:p>
        </p:txBody>
      </p:sp>
      <p:sp>
        <p:nvSpPr>
          <p:cNvPr id="97" name="Shape 65"/>
          <p:cNvSpPr/>
          <p:nvPr/>
        </p:nvSpPr>
        <p:spPr>
          <a:xfrm>
            <a:off x="9439351" y="1747418"/>
            <a:ext cx="2276856" cy="314554"/>
          </a:xfrm>
          <a:prstGeom prst="roundRect">
            <a:avLst>
              <a:gd name="adj" fmla="val 1057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66"/>
          <p:cNvSpPr txBox="1"/>
          <p:nvPr/>
        </p:nvSpPr>
        <p:spPr>
          <a:xfrm>
            <a:off x="9648749" y="1833372"/>
            <a:ext cx="198241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</a:t>
            </a:r>
            <a:endParaRPr lang="en-US" sz="800" dirty="0"/>
          </a:p>
        </p:txBody>
      </p:sp>
      <p:pic>
        <p:nvPicPr>
          <p:cNvPr id="99" name="Image 30" descr="preencoded.png">    </p:cNvPr>
          <p:cNvPicPr>
            <a:picLocks noChangeAspect="1"/>
          </p:cNvPicPr>
          <p:nvPr/>
        </p:nvPicPr>
        <p:blipFill>
          <a:blip r:embed="rId31"/>
          <a:srcRect l="-1648" r="-1648" t="0" b="0"/>
          <a:stretch/>
        </p:blipFill>
        <p:spPr>
          <a:xfrm>
            <a:off x="9525305" y="1855318"/>
            <a:ext cx="85954" cy="95098"/>
          </a:xfrm>
          <a:prstGeom prst="rect">
            <a:avLst/>
          </a:prstGeom>
        </p:spPr>
      </p:pic>
      <p:sp>
        <p:nvSpPr>
          <p:cNvPr id="100" name="Shape 67"/>
          <p:cNvSpPr/>
          <p:nvPr/>
        </p:nvSpPr>
        <p:spPr>
          <a:xfrm>
            <a:off x="9439351" y="2138782"/>
            <a:ext cx="2276856" cy="314554"/>
          </a:xfrm>
          <a:prstGeom prst="roundRect">
            <a:avLst>
              <a:gd name="adj" fmla="val 1057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68"/>
          <p:cNvSpPr txBox="1"/>
          <p:nvPr/>
        </p:nvSpPr>
        <p:spPr>
          <a:xfrm>
            <a:off x="9648749" y="2223821"/>
            <a:ext cx="198241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Rationale </a:t>
            </a:r>
            <a:endParaRPr lang="en-US" sz="800" dirty="0"/>
          </a:p>
        </p:txBody>
      </p:sp>
      <p:pic>
        <p:nvPicPr>
          <p:cNvPr id="102" name="Image 31" descr="preencoded.png">    </p:cNvPr>
          <p:cNvPicPr>
            <a:picLocks noChangeAspect="1"/>
          </p:cNvPicPr>
          <p:nvPr/>
        </p:nvPicPr>
        <p:blipFill>
          <a:blip r:embed="rId32"/>
          <a:srcRect l="-1648" r="-1648" t="0" b="0"/>
          <a:stretch/>
        </p:blipFill>
        <p:spPr>
          <a:xfrm>
            <a:off x="9525305" y="2245766"/>
            <a:ext cx="85954" cy="95098"/>
          </a:xfrm>
          <a:prstGeom prst="rect">
            <a:avLst/>
          </a:prstGeom>
        </p:spPr>
      </p:pic>
      <p:sp>
        <p:nvSpPr>
          <p:cNvPr id="103" name="Shape 69"/>
          <p:cNvSpPr/>
          <p:nvPr/>
        </p:nvSpPr>
        <p:spPr>
          <a:xfrm>
            <a:off x="9439351" y="2529230"/>
            <a:ext cx="2276856" cy="314554"/>
          </a:xfrm>
          <a:prstGeom prst="roundRect">
            <a:avLst>
              <a:gd name="adj" fmla="val 1057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70"/>
          <p:cNvSpPr txBox="1"/>
          <p:nvPr/>
        </p:nvSpPr>
        <p:spPr>
          <a:xfrm>
            <a:off x="9648749" y="2614270"/>
            <a:ext cx="198241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</a:t>
            </a:r>
            <a:endParaRPr lang="en-US" sz="800" dirty="0"/>
          </a:p>
        </p:txBody>
      </p:sp>
      <p:pic>
        <p:nvPicPr>
          <p:cNvPr id="105" name="Image 32" descr="preencoded.png">    </p:cNvPr>
          <p:cNvPicPr>
            <a:picLocks noChangeAspect="1"/>
          </p:cNvPicPr>
          <p:nvPr/>
        </p:nvPicPr>
        <p:blipFill>
          <a:blip r:embed="rId33"/>
          <a:srcRect l="-1648" r="-1648" t="0" b="0"/>
          <a:stretch/>
        </p:blipFill>
        <p:spPr>
          <a:xfrm>
            <a:off x="9525305" y="2636215"/>
            <a:ext cx="85954" cy="95098"/>
          </a:xfrm>
          <a:prstGeom prst="rect">
            <a:avLst/>
          </a:prstGeom>
        </p:spPr>
      </p:pic>
      <p:sp>
        <p:nvSpPr>
          <p:cNvPr id="106" name="Shape 71"/>
          <p:cNvSpPr/>
          <p:nvPr/>
        </p:nvSpPr>
        <p:spPr>
          <a:xfrm>
            <a:off x="9439351" y="2919679"/>
            <a:ext cx="2276856" cy="314554"/>
          </a:xfrm>
          <a:prstGeom prst="roundRect">
            <a:avLst>
              <a:gd name="adj" fmla="val 1057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72"/>
          <p:cNvSpPr txBox="1"/>
          <p:nvPr/>
        </p:nvSpPr>
        <p:spPr>
          <a:xfrm>
            <a:off x="9648749" y="3004718"/>
            <a:ext cx="198241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/ audit metadata </a:t>
            </a:r>
            <a:endParaRPr lang="en-US" sz="800" dirty="0"/>
          </a:p>
        </p:txBody>
      </p:sp>
      <p:pic>
        <p:nvPicPr>
          <p:cNvPr id="108" name="Image 33" descr="preencoded.png">    </p:cNvPr>
          <p:cNvPicPr>
            <a:picLocks noChangeAspect="1"/>
          </p:cNvPicPr>
          <p:nvPr/>
        </p:nvPicPr>
        <p:blipFill>
          <a:blip r:embed="rId34"/>
          <a:srcRect l="-1648" r="-1648" t="0" b="0"/>
          <a:stretch/>
        </p:blipFill>
        <p:spPr>
          <a:xfrm>
            <a:off x="9525305" y="3026664"/>
            <a:ext cx="85954" cy="95098"/>
          </a:xfrm>
          <a:prstGeom prst="rect">
            <a:avLst/>
          </a:prstGeom>
        </p:spPr>
      </p:pic>
      <p:sp>
        <p:nvSpPr>
          <p:cNvPr id="109" name="Shape 73"/>
          <p:cNvSpPr/>
          <p:nvPr/>
        </p:nvSpPr>
        <p:spPr>
          <a:xfrm>
            <a:off x="6476695" y="6215177"/>
            <a:ext cx="5524805" cy="323698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0" name="Shape 74"/>
          <p:cNvSpPr/>
          <p:nvPr/>
        </p:nvSpPr>
        <p:spPr>
          <a:xfrm>
            <a:off x="6476695" y="6215177"/>
            <a:ext cx="552480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11" name="Text 75"/>
          <p:cNvSpPr txBox="1"/>
          <p:nvPr/>
        </p:nvSpPr>
        <p:spPr>
          <a:xfrm>
            <a:off x="6810451" y="6301130"/>
            <a:ext cx="31336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private artifacts never leave the client boundary </a:t>
            </a:r>
            <a:endParaRPr lang="en-US" sz="800" dirty="0"/>
          </a:p>
        </p:txBody>
      </p:sp>
      <p:pic>
        <p:nvPicPr>
          <p:cNvPr id="112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6667805" y="6323076"/>
            <a:ext cx="105156" cy="105156"/>
          </a:xfrm>
          <a:prstGeom prst="rect">
            <a:avLst/>
          </a:prstGeom>
        </p:spPr>
      </p:pic>
      <p:sp>
        <p:nvSpPr>
          <p:cNvPr id="113" name="Text 76"/>
          <p:cNvSpPr txBox="1"/>
          <p:nvPr/>
        </p:nvSpPr>
        <p:spPr>
          <a:xfrm>
            <a:off x="10912450" y="6301130"/>
            <a:ext cx="1226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preserved </a:t>
            </a:r>
            <a:endParaRPr lang="en-US" sz="800" dirty="0"/>
          </a:p>
        </p:txBody>
      </p:sp>
      <p:pic>
        <p:nvPicPr>
          <p:cNvPr id="114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10769803" y="6323076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1305" y="142646"/>
            <a:ext cx="7620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Mechanisms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504749"/>
            <a:ext cx="7620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Late-output fusion vs mid-layer FFN fusion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888882" y="286207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60790" y="271577"/>
            <a:ext cx="39044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503359" y="286207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75266" y="271577"/>
            <a:ext cx="5788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Trainable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230307" y="286207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01300" y="271577"/>
            <a:ext cx="90799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Tensor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247120" y="286207"/>
            <a:ext cx="114300" cy="114300"/>
          </a:xfrm>
          <a:prstGeom prst="ellips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19027" y="271577"/>
            <a:ext cx="63185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Inj. Point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1305" y="714146"/>
            <a:ext cx="11430000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81305" y="714146"/>
            <a:ext cx="38405" cy="381305"/>
          </a:xfrm>
          <a:prstGeom prst="roundRect">
            <a:avLst>
              <a:gd name="adj" fmla="val 47618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9348" b="-29348"/>
          <a:stretch/>
        </p:blipFill>
        <p:spPr>
          <a:xfrm>
            <a:off x="533095" y="838505"/>
            <a:ext cx="105156" cy="13350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14146" y="714146"/>
            <a:ext cx="10877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Uploads Expert-Only Bundle:</a:t>
            </a:r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encoder state + manifest/config metadata. No per-example z, z_ctx, projector state, or router state is uploaded. Server reconstructs/trains projector/router and computes z_ctx locally. 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19379" y="1248156"/>
            <a:ext cx="986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Server-visible input x</a:t>
            </a:r>
            <a:endParaRPr lang="en-US" sz="8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2651" b="-12651"/>
          <a:stretch/>
        </p:blipFill>
        <p:spPr>
          <a:xfrm>
            <a:off x="381305" y="1312164"/>
            <a:ext cx="75895" cy="95098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6335" b="-6335"/>
          <a:stretch/>
        </p:blipFill>
        <p:spPr>
          <a:xfrm>
            <a:off x="1559052" y="1319479"/>
            <a:ext cx="66751" cy="8595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682496" y="1248156"/>
            <a:ext cx="1238098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682496" y="1248156"/>
            <a:ext cx="12390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Uploaded Expert Encoder E(x)</a:t>
            </a:r>
            <a:endParaRPr lang="en-US" sz="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6335" b="-6335"/>
          <a:stretch/>
        </p:blipFill>
        <p:spPr>
          <a:xfrm>
            <a:off x="2978201" y="1319479"/>
            <a:ext cx="66751" cy="8595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101645" y="1248156"/>
            <a:ext cx="1333195" cy="228600"/>
          </a:xfrm>
          <a:prstGeom prst="roundRect">
            <a:avLst>
              <a:gd name="adj" fmla="val 2000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3101645" y="1248156"/>
            <a:ext cx="13341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EvidenceBuilder / adapter</a:t>
            </a:r>
            <a:endParaRPr lang="en-US" sz="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6335" b="-6335"/>
          <a:stretch/>
        </p:blipFill>
        <p:spPr>
          <a:xfrm>
            <a:off x="4492447" y="1319479"/>
            <a:ext cx="66751" cy="8595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615891" y="1257300"/>
            <a:ext cx="381305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615891" y="1257300"/>
            <a:ext cx="3813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</a:t>
            </a:r>
            <a:endParaRPr lang="en-US" sz="8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6335" b="-6335"/>
          <a:stretch/>
        </p:blipFill>
        <p:spPr>
          <a:xfrm>
            <a:off x="5054803" y="1319479"/>
            <a:ext cx="66751" cy="85954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178247" y="1248156"/>
            <a:ext cx="666598" cy="228600"/>
          </a:xfrm>
          <a:prstGeom prst="roundRect">
            <a:avLst>
              <a:gd name="adj" fmla="val 2000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178247" y="1248156"/>
            <a:ext cx="6675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Projector P</a:t>
            </a:r>
            <a:endParaRPr lang="en-US" sz="8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6335" b="-6335"/>
          <a:stretch/>
        </p:blipFill>
        <p:spPr>
          <a:xfrm>
            <a:off x="5902452" y="1319479"/>
            <a:ext cx="66751" cy="85954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025896" y="1257300"/>
            <a:ext cx="571500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6025896" y="1257300"/>
            <a:ext cx="5715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z_tokens</a:t>
            </a:r>
            <a:endParaRPr lang="en-US" sz="8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6335" b="-6335"/>
          <a:stretch/>
        </p:blipFill>
        <p:spPr>
          <a:xfrm>
            <a:off x="6655003" y="1319479"/>
            <a:ext cx="66751" cy="8595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778447" y="1278331"/>
            <a:ext cx="562356" cy="171907"/>
          </a:xfrm>
          <a:prstGeom prst="roundRect">
            <a:avLst>
              <a:gd name="adj" fmla="val 23640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6778447" y="1278331"/>
            <a:ext cx="562356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mean-pool</a:t>
            </a:r>
            <a:endParaRPr lang="en-US" sz="8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6335" b="-6335"/>
          <a:stretch/>
        </p:blipFill>
        <p:spPr>
          <a:xfrm>
            <a:off x="7390181" y="1319479"/>
            <a:ext cx="66751" cy="85954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7513625" y="1257300"/>
            <a:ext cx="476402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7513625" y="1257300"/>
            <a:ext cx="47640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z_ctx</a:t>
            </a:r>
            <a:endParaRPr lang="en-US" sz="800" dirty="0"/>
          </a:p>
        </p:txBody>
      </p:sp>
      <p:sp>
        <p:nvSpPr>
          <p:cNvPr id="41" name="Text 30"/>
          <p:cNvSpPr txBox="1"/>
          <p:nvPr/>
        </p:nvSpPr>
        <p:spPr>
          <a:xfrm>
            <a:off x="8855050" y="1248156"/>
            <a:ext cx="70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Prompt Tokens</a:t>
            </a:r>
            <a:endParaRPr lang="en-US" sz="8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20482" b="-20482"/>
          <a:stretch/>
        </p:blipFill>
        <p:spPr>
          <a:xfrm>
            <a:off x="8716975" y="1312164"/>
            <a:ext cx="75895" cy="95098"/>
          </a:xfrm>
          <a:prstGeom prst="rect">
            <a:avLst/>
          </a:prstGeom>
        </p:spPr>
      </p:pic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6335" b="-6335"/>
          <a:stretch/>
        </p:blipFill>
        <p:spPr>
          <a:xfrm>
            <a:off x="9603029" y="1319479"/>
            <a:ext cx="66751" cy="85954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9726473" y="1248156"/>
            <a:ext cx="857707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32"/>
          <p:cNvSpPr txBox="1"/>
          <p:nvPr/>
        </p:nvSpPr>
        <p:spPr>
          <a:xfrm>
            <a:off x="9726473" y="1248156"/>
            <a:ext cx="8577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Embedding</a:t>
            </a:r>
            <a:endParaRPr lang="en-US" sz="8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6335" b="-6335"/>
          <a:stretch/>
        </p:blipFill>
        <p:spPr>
          <a:xfrm>
            <a:off x="10640873" y="1319479"/>
            <a:ext cx="66751" cy="85954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10765231" y="1260043"/>
            <a:ext cx="1047902" cy="209398"/>
          </a:xfrm>
          <a:prstGeom prst="roundRect">
            <a:avLst>
              <a:gd name="adj" fmla="val 15879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10765231" y="1260043"/>
            <a:ext cx="104790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Transformer Stack</a:t>
            </a:r>
            <a:endParaRPr lang="en-US" sz="80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79" b="-79"/>
          <a:stretch/>
        </p:blipFill>
        <p:spPr>
          <a:xfrm>
            <a:off x="381305" y="1714500"/>
            <a:ext cx="5619902" cy="286207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495605" y="1772107"/>
            <a:ext cx="22448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A: post_attn_router_parallel</a:t>
            </a:r>
            <a:endParaRPr lang="en-US" sz="900" dirty="0"/>
          </a:p>
        </p:txBody>
      </p:sp>
      <p:sp>
        <p:nvSpPr>
          <p:cNvPr id="51" name="Shape 36"/>
          <p:cNvSpPr/>
          <p:nvPr/>
        </p:nvSpPr>
        <p:spPr>
          <a:xfrm>
            <a:off x="5130698" y="1773936"/>
            <a:ext cx="761695" cy="171907"/>
          </a:xfrm>
          <a:prstGeom prst="roundRect">
            <a:avLst>
              <a:gd name="adj" fmla="val 17730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166534">
                <a:alpha val="20000"/>
              </a:srgbClr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5130698" y="1773936"/>
            <a:ext cx="762610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80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-5" r="-5" t="0" b="0"/>
          <a:stretch/>
        </p:blipFill>
        <p:spPr>
          <a:xfrm>
            <a:off x="381305" y="2000707"/>
            <a:ext cx="5619902" cy="4762195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2854757" y="2143354"/>
            <a:ext cx="87233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Tokens</a:t>
            </a:r>
            <a:endParaRPr lang="en-US" sz="800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rcRect l="-3205" r="-3205" t="0" b="0"/>
          <a:stretch/>
        </p:blipFill>
        <p:spPr>
          <a:xfrm>
            <a:off x="3161995" y="2352751"/>
            <a:ext cx="75895" cy="95098"/>
          </a:xfrm>
          <a:prstGeom prst="rect">
            <a:avLst/>
          </a:prstGeom>
        </p:spPr>
      </p:pic>
      <p:sp>
        <p:nvSpPr>
          <p:cNvPr id="56" name="Shape 39"/>
          <p:cNvSpPr/>
          <p:nvPr/>
        </p:nvSpPr>
        <p:spPr>
          <a:xfrm>
            <a:off x="2533802" y="2514600"/>
            <a:ext cx="1333195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40"/>
          <p:cNvSpPr txBox="1"/>
          <p:nvPr/>
        </p:nvSpPr>
        <p:spPr>
          <a:xfrm>
            <a:off x="2533802" y="2514600"/>
            <a:ext cx="13341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Embedding</a:t>
            </a:r>
            <a:endParaRPr lang="en-US" sz="800" dirty="0"/>
          </a:p>
        </p:txBody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rcRect l="-3205" r="-3205" t="0" b="0"/>
          <a:stretch/>
        </p:blipFill>
        <p:spPr>
          <a:xfrm>
            <a:off x="3161995" y="2809951"/>
            <a:ext cx="75895" cy="95098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2533802" y="2971800"/>
            <a:ext cx="1333195" cy="342900"/>
          </a:xfrm>
          <a:prstGeom prst="roundRect">
            <a:avLst>
              <a:gd name="adj" fmla="val 8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42"/>
          <p:cNvSpPr txBox="1"/>
          <p:nvPr/>
        </p:nvSpPr>
        <p:spPr>
          <a:xfrm>
            <a:off x="2533802" y="2971800"/>
            <a:ext cx="133411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frozen Qwen</a:t>
            </a:r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layers</a:t>
            </a:r>
            <a:endParaRPr lang="en-US" sz="800" dirty="0"/>
          </a:p>
        </p:txBody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rcRect l="-3205" r="-3205" t="0" b="0"/>
          <a:stretch/>
        </p:blipFill>
        <p:spPr>
          <a:xfrm>
            <a:off x="3161995" y="3381451"/>
            <a:ext cx="75895" cy="95098"/>
          </a:xfrm>
          <a:prstGeom prst="rect">
            <a:avLst/>
          </a:prstGeom>
        </p:spPr>
      </p:pic>
      <p:sp>
        <p:nvSpPr>
          <p:cNvPr id="62" name="Shape 43"/>
          <p:cNvSpPr/>
          <p:nvPr/>
        </p:nvSpPr>
        <p:spPr>
          <a:xfrm>
            <a:off x="2438705" y="3543300"/>
            <a:ext cx="1524305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3" name="Text 44"/>
          <p:cNvSpPr txBox="1"/>
          <p:nvPr/>
        </p:nvSpPr>
        <p:spPr>
          <a:xfrm>
            <a:off x="2438705" y="3543300"/>
            <a:ext cx="15243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Final-Token Hidden h_final</a:t>
            </a:r>
            <a:endParaRPr lang="en-US" sz="800" dirty="0"/>
          </a:p>
        </p:txBody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rcRect l="-3205" r="-3205" t="0" b="0"/>
          <a:stretch/>
        </p:blipFill>
        <p:spPr>
          <a:xfrm>
            <a:off x="3161995" y="3819449"/>
            <a:ext cx="75895" cy="95098"/>
          </a:xfrm>
          <a:prstGeom prst="rect">
            <a:avLst/>
          </a:prstGeom>
        </p:spPr>
      </p:pic>
      <p:sp>
        <p:nvSpPr>
          <p:cNvPr id="65" name="Shape 45"/>
          <p:cNvSpPr/>
          <p:nvPr/>
        </p:nvSpPr>
        <p:spPr>
          <a:xfrm>
            <a:off x="2152498" y="4009644"/>
            <a:ext cx="2095805" cy="381305"/>
          </a:xfrm>
          <a:prstGeom prst="roundRect">
            <a:avLst>
              <a:gd name="adj" fmla="val 71942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46"/>
          <p:cNvSpPr txBox="1"/>
          <p:nvPr/>
        </p:nvSpPr>
        <p:spPr>
          <a:xfrm>
            <a:off x="2639873" y="4062679"/>
            <a:ext cx="11301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 / Gate MLP</a:t>
            </a:r>
            <a:endParaRPr lang="en-US" sz="800" dirty="0"/>
          </a:p>
        </p:txBody>
      </p:sp>
      <p:sp>
        <p:nvSpPr>
          <p:cNvPr id="67" name="Text 47"/>
          <p:cNvSpPr txBox="1"/>
          <p:nvPr/>
        </p:nvSpPr>
        <p:spPr>
          <a:xfrm>
            <a:off x="2301545" y="4224528"/>
            <a:ext cx="1800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Concat(h_final, z_ctx) → gate → expert</a:t>
            </a:r>
            <a:endParaRPr lang="en-US" sz="800" dirty="0"/>
          </a:p>
        </p:txBody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19"/>
          <a:srcRect l="-3205" r="-3205" t="0" b="0"/>
          <a:stretch/>
        </p:blipFill>
        <p:spPr>
          <a:xfrm>
            <a:off x="3161995" y="4486046"/>
            <a:ext cx="75895" cy="95098"/>
          </a:xfrm>
          <a:prstGeom prst="rect">
            <a:avLst/>
          </a:prstGeom>
        </p:spPr>
      </p:pic>
      <p:sp>
        <p:nvSpPr>
          <p:cNvPr id="69" name="Shape 48"/>
          <p:cNvSpPr/>
          <p:nvPr/>
        </p:nvSpPr>
        <p:spPr>
          <a:xfrm>
            <a:off x="2438705" y="4647895"/>
            <a:ext cx="1524305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0" name="Text 49"/>
          <p:cNvSpPr txBox="1"/>
          <p:nvPr/>
        </p:nvSpPr>
        <p:spPr>
          <a:xfrm>
            <a:off x="2438705" y="4647895"/>
            <a:ext cx="15243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Fused Hidden h_out</a:t>
            </a:r>
            <a:endParaRPr lang="en-US" sz="800" dirty="0"/>
          </a:p>
        </p:txBody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20"/>
          <a:srcRect l="-3205" r="-3205" t="0" b="0"/>
          <a:stretch/>
        </p:blipFill>
        <p:spPr>
          <a:xfrm>
            <a:off x="3161995" y="4924044"/>
            <a:ext cx="75895" cy="95098"/>
          </a:xfrm>
          <a:prstGeom prst="rect">
            <a:avLst/>
          </a:prstGeom>
        </p:spPr>
      </p:pic>
      <p:sp>
        <p:nvSpPr>
          <p:cNvPr id="72" name="Shape 50"/>
          <p:cNvSpPr/>
          <p:nvPr/>
        </p:nvSpPr>
        <p:spPr>
          <a:xfrm>
            <a:off x="2628900" y="5086807"/>
            <a:ext cx="1143000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51"/>
          <p:cNvSpPr txBox="1"/>
          <p:nvPr/>
        </p:nvSpPr>
        <p:spPr>
          <a:xfrm>
            <a:off x="2628900" y="5086807"/>
            <a:ext cx="1143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 Head</a:t>
            </a:r>
            <a:endParaRPr lang="en-US" sz="800" dirty="0"/>
          </a:p>
        </p:txBody>
      </p:sp>
      <p:pic>
        <p:nvPicPr>
          <p:cNvPr id="74" name="Image 20" descr="preencoded.png">    </p:cNvPr>
          <p:cNvPicPr>
            <a:picLocks noChangeAspect="1"/>
          </p:cNvPicPr>
          <p:nvPr/>
        </p:nvPicPr>
        <p:blipFill>
          <a:blip r:embed="rId21"/>
          <a:srcRect l="-3205" r="-3205" t="0" b="0"/>
          <a:stretch/>
        </p:blipFill>
        <p:spPr>
          <a:xfrm>
            <a:off x="3161995" y="5381244"/>
            <a:ext cx="75895" cy="95098"/>
          </a:xfrm>
          <a:prstGeom prst="rect">
            <a:avLst/>
          </a:prstGeom>
        </p:spPr>
      </p:pic>
      <p:sp>
        <p:nvSpPr>
          <p:cNvPr id="75" name="Text 52"/>
          <p:cNvSpPr txBox="1"/>
          <p:nvPr/>
        </p:nvSpPr>
        <p:spPr>
          <a:xfrm>
            <a:off x="2874874" y="5544007"/>
            <a:ext cx="92537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Logits / Token</a:t>
            </a:r>
            <a:endParaRPr lang="en-US" sz="800" dirty="0"/>
          </a:p>
        </p:txBody>
      </p:sp>
      <p:sp>
        <p:nvSpPr>
          <p:cNvPr id="76" name="Shape 53"/>
          <p:cNvSpPr/>
          <p:nvPr/>
        </p:nvSpPr>
        <p:spPr>
          <a:xfrm>
            <a:off x="4943246" y="2143354"/>
            <a:ext cx="571500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7" name="Text 54"/>
          <p:cNvSpPr txBox="1"/>
          <p:nvPr/>
        </p:nvSpPr>
        <p:spPr>
          <a:xfrm>
            <a:off x="4943246" y="2143354"/>
            <a:ext cx="5715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z_ctx</a:t>
            </a:r>
            <a:endParaRPr lang="en-US" sz="800" dirty="0"/>
          </a:p>
        </p:txBody>
      </p:sp>
      <p:pic>
        <p:nvPicPr>
          <p:cNvPr id="78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2083" b="-2083"/>
          <a:stretch/>
        </p:blipFill>
        <p:spPr>
          <a:xfrm>
            <a:off x="5224882" y="2352751"/>
            <a:ext cx="9144" cy="1600200"/>
          </a:xfrm>
          <a:prstGeom prst="rect">
            <a:avLst/>
          </a:prstGeom>
        </p:spPr>
      </p:pic>
      <p:pic>
        <p:nvPicPr>
          <p:cNvPr id="79" name="Image 22" descr="preencoded.png">    </p:cNvPr>
          <p:cNvPicPr>
            <a:picLocks noChangeAspect="1"/>
          </p:cNvPicPr>
          <p:nvPr/>
        </p:nvPicPr>
        <p:blipFill>
          <a:blip r:embed="rId23"/>
          <a:srcRect l="-2083" r="-2083" t="0" b="0"/>
          <a:stretch/>
        </p:blipFill>
        <p:spPr>
          <a:xfrm>
            <a:off x="4657954" y="3952951"/>
            <a:ext cx="571500" cy="9144"/>
          </a:xfrm>
          <a:prstGeom prst="rect">
            <a:avLst/>
          </a:prstGeom>
        </p:spPr>
      </p:pic>
      <p:pic>
        <p:nvPicPr>
          <p:cNvPr id="80" name="Image 23" descr="preencoded.png">    </p:cNvPr>
          <p:cNvPicPr>
            <a:picLocks noChangeAspect="1"/>
          </p:cNvPicPr>
          <p:nvPr/>
        </p:nvPicPr>
        <p:blipFill>
          <a:blip r:embed="rId24"/>
          <a:srcRect l="-24850" r="-24850" t="0" b="0"/>
          <a:stretch/>
        </p:blipFill>
        <p:spPr>
          <a:xfrm>
            <a:off x="4591202" y="3905402"/>
            <a:ext cx="114300" cy="152705"/>
          </a:xfrm>
          <a:prstGeom prst="rect">
            <a:avLst/>
          </a:prstGeom>
        </p:spPr>
      </p:pic>
      <p:sp>
        <p:nvSpPr>
          <p:cNvPr id="81" name="Shape 55"/>
          <p:cNvSpPr/>
          <p:nvPr/>
        </p:nvSpPr>
        <p:spPr>
          <a:xfrm>
            <a:off x="533095" y="2572207"/>
            <a:ext cx="1429207" cy="1895551"/>
          </a:xfrm>
          <a:prstGeom prst="roundRect">
            <a:avLst>
              <a:gd name="adj" fmla="val 3412"/>
            </a:avLst>
          </a:prstGeom>
          <a:solidFill>
            <a:srgbClr val="F0FDF4"/>
          </a:solidFill>
          <a:ln/>
        </p:spPr>
      </p:sp>
      <p:sp>
        <p:nvSpPr>
          <p:cNvPr id="82" name="Shape 56"/>
          <p:cNvSpPr/>
          <p:nvPr/>
        </p:nvSpPr>
        <p:spPr>
          <a:xfrm>
            <a:off x="533095" y="2572207"/>
            <a:ext cx="28346" cy="1895551"/>
          </a:xfrm>
          <a:prstGeom prst="roundRect">
            <a:avLst>
              <a:gd name="adj" fmla="val 172045"/>
            </a:avLst>
          </a:prstGeom>
          <a:solidFill>
            <a:srgbClr val="166534"/>
          </a:solidFill>
          <a:ln w="12700">
            <a:solidFill>
              <a:srgbClr val="166534">
                <a:alpha val="0"/>
              </a:srgbClr>
            </a:solidFill>
            <a:prstDash val="solid"/>
          </a:ln>
        </p:spPr>
      </p:sp>
      <p:sp>
        <p:nvSpPr>
          <p:cNvPr id="83" name="Text 57"/>
          <p:cNvSpPr txBox="1"/>
          <p:nvPr/>
        </p:nvSpPr>
        <p:spPr>
          <a:xfrm>
            <a:off x="657454" y="2648102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Fusion</a:t>
            </a:r>
            <a:endParaRPr lang="en-US" sz="800" dirty="0"/>
          </a:p>
        </p:txBody>
      </p:sp>
      <p:sp>
        <p:nvSpPr>
          <p:cNvPr id="84" name="Text 58"/>
          <p:cNvSpPr txBox="1"/>
          <p:nvPr/>
        </p:nvSpPr>
        <p:spPr>
          <a:xfrm>
            <a:off x="657454" y="2852928"/>
            <a:ext cx="11055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Injects visual evidence near decoder output</a:t>
            </a:r>
            <a:endParaRPr lang="en-US" sz="800" dirty="0"/>
          </a:p>
        </p:txBody>
      </p:sp>
      <p:sp>
        <p:nvSpPr>
          <p:cNvPr id="85" name="Text 59"/>
          <p:cNvSpPr txBox="1"/>
          <p:nvPr/>
        </p:nvSpPr>
        <p:spPr>
          <a:xfrm>
            <a:off x="657454" y="3138221"/>
            <a:ext cx="1010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Directly steers token logits</a:t>
            </a:r>
            <a:endParaRPr lang="en-US" sz="800" dirty="0"/>
          </a:p>
        </p:txBody>
      </p:sp>
      <p:sp>
        <p:nvSpPr>
          <p:cNvPr id="86" name="Text 60"/>
          <p:cNvSpPr txBox="1"/>
          <p:nvPr/>
        </p:nvSpPr>
        <p:spPr>
          <a:xfrm>
            <a:off x="657454" y="3424428"/>
            <a:ext cx="991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Best for constrained answer-token control</a:t>
            </a:r>
            <a:endParaRPr lang="en-US" sz="800" dirty="0"/>
          </a:p>
        </p:txBody>
      </p:sp>
      <p:sp>
        <p:nvSpPr>
          <p:cNvPr id="87" name="Shape 61"/>
          <p:cNvSpPr/>
          <p:nvPr/>
        </p:nvSpPr>
        <p:spPr>
          <a:xfrm>
            <a:off x="657454" y="3776472"/>
            <a:ext cx="1209751" cy="9144"/>
          </a:xfrm>
          <a:prstGeom prst="rect">
            <a:avLst/>
          </a:prstGeom>
          <a:solidFill>
            <a:srgbClr val="BBF7D0"/>
          </a:solidFill>
          <a:ln w="12700">
            <a:solidFill>
              <a:srgbClr val="BBF7D0">
                <a:alpha val="0"/>
              </a:srgbClr>
            </a:solidFill>
            <a:prstDash val="solid"/>
          </a:ln>
        </p:spPr>
      </p:sp>
      <p:sp>
        <p:nvSpPr>
          <p:cNvPr id="88" name="Text 62"/>
          <p:cNvSpPr txBox="1"/>
          <p:nvPr/>
        </p:nvSpPr>
        <p:spPr>
          <a:xfrm>
            <a:off x="657454" y="3861511"/>
            <a:ext cx="1209751" cy="5349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762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*Variant (post_attn_router_layers):</a:t>
            </a:r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Hooks each token mixer (or subset [8,16,24,31]) to add gated delta. </a:t>
            </a:r>
            <a:endParaRPr lang="en-US" sz="800" dirty="0"/>
          </a:p>
        </p:txBody>
      </p:sp>
      <p:pic>
        <p:nvPicPr>
          <p:cNvPr id="89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-79" b="-79"/>
          <a:stretch/>
        </p:blipFill>
        <p:spPr>
          <a:xfrm>
            <a:off x="6191402" y="1714500"/>
            <a:ext cx="5619902" cy="286207"/>
          </a:xfrm>
          <a:prstGeom prst="rect">
            <a:avLst/>
          </a:prstGeom>
        </p:spPr>
      </p:pic>
      <p:sp>
        <p:nvSpPr>
          <p:cNvPr id="90" name="Text 63"/>
          <p:cNvSpPr txBox="1"/>
          <p:nvPr/>
        </p:nvSpPr>
        <p:spPr>
          <a:xfrm>
            <a:off x="6305702" y="1772107"/>
            <a:ext cx="20857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B: pre_ffn_router_parallel</a:t>
            </a:r>
            <a:endParaRPr lang="en-US" sz="900" dirty="0"/>
          </a:p>
        </p:txBody>
      </p:sp>
      <p:sp>
        <p:nvSpPr>
          <p:cNvPr id="91" name="Text 64"/>
          <p:cNvSpPr txBox="1"/>
          <p:nvPr/>
        </p:nvSpPr>
        <p:spPr>
          <a:xfrm>
            <a:off x="10447934" y="1793138"/>
            <a:ext cx="149687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Layer (e.g. layer_idx)</a:t>
            </a:r>
            <a:endParaRPr lang="en-US" sz="800" dirty="0"/>
          </a:p>
        </p:txBody>
      </p:sp>
      <p:pic>
        <p:nvPicPr>
          <p:cNvPr id="92" name="Image 25" descr="preencoded.png">    </p:cNvPr>
          <p:cNvPicPr>
            <a:picLocks noChangeAspect="1"/>
          </p:cNvPicPr>
          <p:nvPr/>
        </p:nvPicPr>
        <p:blipFill>
          <a:blip r:embed="rId26"/>
          <a:srcRect l="-5" r="-5" t="0" b="0"/>
          <a:stretch/>
        </p:blipFill>
        <p:spPr>
          <a:xfrm>
            <a:off x="6191402" y="2000707"/>
            <a:ext cx="5619902" cy="4762195"/>
          </a:xfrm>
          <a:prstGeom prst="rect">
            <a:avLst/>
          </a:prstGeom>
        </p:spPr>
      </p:pic>
      <p:sp>
        <p:nvSpPr>
          <p:cNvPr id="93" name="Text 65"/>
          <p:cNvSpPr txBox="1"/>
          <p:nvPr/>
        </p:nvSpPr>
        <p:spPr>
          <a:xfrm>
            <a:off x="8737092" y="2143354"/>
            <a:ext cx="8513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h^(l-1)</a:t>
            </a:r>
            <a:endParaRPr lang="en-US" sz="800" dirty="0"/>
          </a:p>
        </p:txBody>
      </p:sp>
      <p:pic>
        <p:nvPicPr>
          <p:cNvPr id="94" name="Image 26" descr="preencoded.png">    </p:cNvPr>
          <p:cNvPicPr>
            <a:picLocks noChangeAspect="1"/>
          </p:cNvPicPr>
          <p:nvPr/>
        </p:nvPicPr>
        <p:blipFill>
          <a:blip r:embed="rId27"/>
          <a:srcRect l="-3205" r="-3205" t="0" b="0"/>
          <a:stretch/>
        </p:blipFill>
        <p:spPr>
          <a:xfrm>
            <a:off x="8973007" y="2343607"/>
            <a:ext cx="75895" cy="95098"/>
          </a:xfrm>
          <a:prstGeom prst="rect">
            <a:avLst/>
          </a:prstGeom>
        </p:spPr>
      </p:pic>
      <p:sp>
        <p:nvSpPr>
          <p:cNvPr id="95" name="Shape 66"/>
          <p:cNvSpPr/>
          <p:nvPr/>
        </p:nvSpPr>
        <p:spPr>
          <a:xfrm>
            <a:off x="8438998" y="2495398"/>
            <a:ext cx="1143000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67"/>
          <p:cNvSpPr txBox="1"/>
          <p:nvPr/>
        </p:nvSpPr>
        <p:spPr>
          <a:xfrm>
            <a:off x="8438998" y="2495398"/>
            <a:ext cx="1143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+ Norm</a:t>
            </a:r>
            <a:endParaRPr lang="en-US" sz="800" dirty="0"/>
          </a:p>
        </p:txBody>
      </p:sp>
      <p:pic>
        <p:nvPicPr>
          <p:cNvPr id="97" name="Image 27" descr="preencoded.png">    </p:cNvPr>
          <p:cNvPicPr>
            <a:picLocks noChangeAspect="1"/>
          </p:cNvPicPr>
          <p:nvPr/>
        </p:nvPicPr>
        <p:blipFill>
          <a:blip r:embed="rId28"/>
          <a:srcRect l="-3205" r="-3205" t="0" b="0"/>
          <a:stretch/>
        </p:blipFill>
        <p:spPr>
          <a:xfrm>
            <a:off x="8973007" y="2781605"/>
            <a:ext cx="75895" cy="95098"/>
          </a:xfrm>
          <a:prstGeom prst="rect">
            <a:avLst/>
          </a:prstGeom>
        </p:spPr>
      </p:pic>
      <p:sp>
        <p:nvSpPr>
          <p:cNvPr id="98" name="Shape 68"/>
          <p:cNvSpPr/>
          <p:nvPr/>
        </p:nvSpPr>
        <p:spPr>
          <a:xfrm>
            <a:off x="8343900" y="2933395"/>
            <a:ext cx="1333195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9" name="Text 69"/>
          <p:cNvSpPr txBox="1"/>
          <p:nvPr/>
        </p:nvSpPr>
        <p:spPr>
          <a:xfrm>
            <a:off x="8343900" y="2933395"/>
            <a:ext cx="133411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Pre-FFN Hidden u_l</a:t>
            </a:r>
            <a:endParaRPr lang="en-US" sz="800" dirty="0"/>
          </a:p>
        </p:txBody>
      </p:sp>
      <p:pic>
        <p:nvPicPr>
          <p:cNvPr id="100" name="Image 28" descr="preencoded.png">    </p:cNvPr>
          <p:cNvPicPr>
            <a:picLocks noChangeAspect="1"/>
          </p:cNvPicPr>
          <p:nvPr/>
        </p:nvPicPr>
        <p:blipFill>
          <a:blip r:embed="rId29"/>
          <a:srcRect l="-2083" r="-2083" t="0" b="0"/>
          <a:stretch/>
        </p:blipFill>
        <p:spPr>
          <a:xfrm>
            <a:off x="8153705" y="3143707"/>
            <a:ext cx="1714500" cy="9144"/>
          </a:xfrm>
          <a:prstGeom prst="rect">
            <a:avLst/>
          </a:prstGeom>
        </p:spPr>
      </p:pic>
      <p:pic>
        <p:nvPicPr>
          <p:cNvPr id="101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2001" b="-2001"/>
          <a:stretch/>
        </p:blipFill>
        <p:spPr>
          <a:xfrm>
            <a:off x="8153705" y="3143707"/>
            <a:ext cx="9144" cy="142646"/>
          </a:xfrm>
          <a:prstGeom prst="rect">
            <a:avLst/>
          </a:prstGeom>
        </p:spPr>
      </p:pic>
      <p:pic>
        <p:nvPicPr>
          <p:cNvPr id="102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-2001" b="-2001"/>
          <a:stretch/>
        </p:blipFill>
        <p:spPr>
          <a:xfrm>
            <a:off x="9868205" y="3143707"/>
            <a:ext cx="9144" cy="142646"/>
          </a:xfrm>
          <a:prstGeom prst="rect">
            <a:avLst/>
          </a:prstGeom>
        </p:spPr>
      </p:pic>
      <p:sp>
        <p:nvSpPr>
          <p:cNvPr id="103" name="Shape 70"/>
          <p:cNvSpPr/>
          <p:nvPr/>
        </p:nvSpPr>
        <p:spPr>
          <a:xfrm>
            <a:off x="7582205" y="3286354"/>
            <a:ext cx="1143000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Text 71"/>
          <p:cNvSpPr txBox="1"/>
          <p:nvPr/>
        </p:nvSpPr>
        <p:spPr>
          <a:xfrm>
            <a:off x="7582205" y="3286354"/>
            <a:ext cx="1143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FFN / MLP</a:t>
            </a:r>
            <a:endParaRPr lang="en-US" sz="800" dirty="0"/>
          </a:p>
        </p:txBody>
      </p:sp>
      <p:pic>
        <p:nvPicPr>
          <p:cNvPr id="105" name="Image 31" descr="preencoded.png">    </p:cNvPr>
          <p:cNvPicPr>
            <a:picLocks noChangeAspect="1"/>
          </p:cNvPicPr>
          <p:nvPr/>
        </p:nvPicPr>
        <p:blipFill>
          <a:blip r:embed="rId32"/>
          <a:srcRect l="-3205" r="-3205" t="0" b="0"/>
          <a:stretch/>
        </p:blipFill>
        <p:spPr>
          <a:xfrm>
            <a:off x="8115300" y="3571646"/>
            <a:ext cx="75895" cy="95098"/>
          </a:xfrm>
          <a:prstGeom prst="rect">
            <a:avLst/>
          </a:prstGeom>
        </p:spPr>
      </p:pic>
      <p:sp>
        <p:nvSpPr>
          <p:cNvPr id="106" name="Shape 72"/>
          <p:cNvSpPr/>
          <p:nvPr/>
        </p:nvSpPr>
        <p:spPr>
          <a:xfrm>
            <a:off x="7582205" y="3724351"/>
            <a:ext cx="1143000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7" name="Text 73"/>
          <p:cNvSpPr txBox="1"/>
          <p:nvPr/>
        </p:nvSpPr>
        <p:spPr>
          <a:xfrm>
            <a:off x="7582205" y="3724351"/>
            <a:ext cx="11430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MLP Output m_l</a:t>
            </a:r>
            <a:endParaRPr lang="en-US" sz="800" dirty="0"/>
          </a:p>
        </p:txBody>
      </p:sp>
      <p:sp>
        <p:nvSpPr>
          <p:cNvPr id="108" name="Shape 74"/>
          <p:cNvSpPr/>
          <p:nvPr/>
        </p:nvSpPr>
        <p:spPr>
          <a:xfrm>
            <a:off x="9249156" y="3286354"/>
            <a:ext cx="1238098" cy="228600"/>
          </a:xfrm>
          <a:prstGeom prst="roundRect">
            <a:avLst>
              <a:gd name="adj" fmla="val 200000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9" name="Text 75"/>
          <p:cNvSpPr txBox="1"/>
          <p:nvPr/>
        </p:nvSpPr>
        <p:spPr>
          <a:xfrm>
            <a:off x="9305849" y="3335731"/>
            <a:ext cx="112928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 Parallel FFN</a:t>
            </a:r>
            <a:endParaRPr lang="en-US" sz="800" dirty="0"/>
          </a:p>
        </p:txBody>
      </p:sp>
      <p:pic>
        <p:nvPicPr>
          <p:cNvPr id="110" name="Image 32" descr="preencoded.png">    </p:cNvPr>
          <p:cNvPicPr>
            <a:picLocks noChangeAspect="1"/>
          </p:cNvPicPr>
          <p:nvPr/>
        </p:nvPicPr>
        <p:blipFill>
          <a:blip r:embed="rId33"/>
          <a:srcRect l="-3205" r="-3205" t="0" b="0"/>
          <a:stretch/>
        </p:blipFill>
        <p:spPr>
          <a:xfrm>
            <a:off x="9829800" y="3571646"/>
            <a:ext cx="75895" cy="95098"/>
          </a:xfrm>
          <a:prstGeom prst="rect">
            <a:avLst/>
          </a:prstGeom>
        </p:spPr>
      </p:pic>
      <p:sp>
        <p:nvSpPr>
          <p:cNvPr id="111" name="Shape 76"/>
          <p:cNvSpPr/>
          <p:nvPr/>
        </p:nvSpPr>
        <p:spPr>
          <a:xfrm>
            <a:off x="9296705" y="3724351"/>
            <a:ext cx="1143000" cy="209398"/>
          </a:xfrm>
          <a:prstGeom prst="roundRect">
            <a:avLst>
              <a:gd name="adj" fmla="val 15879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2" name="Text 77"/>
          <p:cNvSpPr txBox="1"/>
          <p:nvPr/>
        </p:nvSpPr>
        <p:spPr>
          <a:xfrm>
            <a:off x="9296705" y="3724351"/>
            <a:ext cx="11430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Gated Delta Δ_l</a:t>
            </a:r>
            <a:endParaRPr lang="en-US" sz="800" dirty="0"/>
          </a:p>
        </p:txBody>
      </p:sp>
      <p:sp>
        <p:nvSpPr>
          <p:cNvPr id="113" name="Shape 78"/>
          <p:cNvSpPr/>
          <p:nvPr/>
        </p:nvSpPr>
        <p:spPr>
          <a:xfrm>
            <a:off x="10944454" y="2143354"/>
            <a:ext cx="571500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4" name="Text 79"/>
          <p:cNvSpPr txBox="1"/>
          <p:nvPr/>
        </p:nvSpPr>
        <p:spPr>
          <a:xfrm>
            <a:off x="10944454" y="2143354"/>
            <a:ext cx="5715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z_ctx</a:t>
            </a:r>
            <a:endParaRPr lang="en-US" sz="800" dirty="0"/>
          </a:p>
        </p:txBody>
      </p:sp>
      <p:pic>
        <p:nvPicPr>
          <p:cNvPr id="115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-2078" b="-2078"/>
          <a:stretch/>
        </p:blipFill>
        <p:spPr>
          <a:xfrm>
            <a:off x="11225174" y="2352751"/>
            <a:ext cx="9144" cy="1123798"/>
          </a:xfrm>
          <a:prstGeom prst="rect">
            <a:avLst/>
          </a:prstGeom>
        </p:spPr>
      </p:pic>
      <p:pic>
        <p:nvPicPr>
          <p:cNvPr id="116" name="Image 34" descr="preencoded.png">    </p:cNvPr>
          <p:cNvPicPr>
            <a:picLocks noChangeAspect="1"/>
          </p:cNvPicPr>
          <p:nvPr/>
        </p:nvPicPr>
        <p:blipFill>
          <a:blip r:embed="rId35"/>
          <a:srcRect l="-2083" r="-2083" t="0" b="0"/>
          <a:stretch/>
        </p:blipFill>
        <p:spPr>
          <a:xfrm>
            <a:off x="10658246" y="3381451"/>
            <a:ext cx="571500" cy="9144"/>
          </a:xfrm>
          <a:prstGeom prst="rect">
            <a:avLst/>
          </a:prstGeom>
        </p:spPr>
      </p:pic>
      <p:pic>
        <p:nvPicPr>
          <p:cNvPr id="117" name="Image 35" descr="preencoded.png">    </p:cNvPr>
          <p:cNvPicPr>
            <a:picLocks noChangeAspect="1"/>
          </p:cNvPicPr>
          <p:nvPr/>
        </p:nvPicPr>
        <p:blipFill>
          <a:blip r:embed="rId36"/>
          <a:srcRect l="-24850" r="-24850" t="0" b="0"/>
          <a:stretch/>
        </p:blipFill>
        <p:spPr>
          <a:xfrm>
            <a:off x="10591495" y="3333902"/>
            <a:ext cx="114300" cy="152705"/>
          </a:xfrm>
          <a:prstGeom prst="rect">
            <a:avLst/>
          </a:prstGeom>
        </p:spPr>
      </p:pic>
      <p:pic>
        <p:nvPicPr>
          <p:cNvPr id="118" name="Image 36" descr="preencoded.png">    </p:cNvPr>
          <p:cNvPicPr>
            <a:picLocks noChangeAspect="1"/>
          </p:cNvPicPr>
          <p:nvPr/>
        </p:nvPicPr>
        <p:blipFill>
          <a:blip r:embed="rId37"/>
          <a:srcRect l="0" r="0" t="-2001" b="-2001"/>
          <a:stretch/>
        </p:blipFill>
        <p:spPr>
          <a:xfrm>
            <a:off x="8153705" y="3857854"/>
            <a:ext cx="9144" cy="190195"/>
          </a:xfrm>
          <a:prstGeom prst="rect">
            <a:avLst/>
          </a:prstGeom>
        </p:spPr>
      </p:pic>
      <p:pic>
        <p:nvPicPr>
          <p:cNvPr id="119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-2001" b="-2001"/>
          <a:stretch/>
        </p:blipFill>
        <p:spPr>
          <a:xfrm>
            <a:off x="9868205" y="3857854"/>
            <a:ext cx="9144" cy="190195"/>
          </a:xfrm>
          <a:prstGeom prst="rect">
            <a:avLst/>
          </a:prstGeom>
        </p:spPr>
      </p:pic>
      <p:pic>
        <p:nvPicPr>
          <p:cNvPr id="120" name="Image 38" descr="preencoded.png">    </p:cNvPr>
          <p:cNvPicPr>
            <a:picLocks noChangeAspect="1"/>
          </p:cNvPicPr>
          <p:nvPr/>
        </p:nvPicPr>
        <p:blipFill>
          <a:blip r:embed="rId39"/>
          <a:srcRect l="-2083" r="-2083" t="0" b="0"/>
          <a:stretch/>
        </p:blipFill>
        <p:spPr>
          <a:xfrm>
            <a:off x="8153705" y="4048049"/>
            <a:ext cx="1714500" cy="9144"/>
          </a:xfrm>
          <a:prstGeom prst="rect">
            <a:avLst/>
          </a:prstGeom>
        </p:spPr>
      </p:pic>
      <p:pic>
        <p:nvPicPr>
          <p:cNvPr id="121" name="Image 39" descr="preencoded.png">    </p:cNvPr>
          <p:cNvPicPr>
            <a:picLocks noChangeAspect="1"/>
          </p:cNvPicPr>
          <p:nvPr/>
        </p:nvPicPr>
        <p:blipFill>
          <a:blip r:embed="rId40"/>
          <a:srcRect l="-3205" r="-3205" t="0" b="0"/>
          <a:stretch/>
        </p:blipFill>
        <p:spPr>
          <a:xfrm>
            <a:off x="8973007" y="4153205"/>
            <a:ext cx="75895" cy="95098"/>
          </a:xfrm>
          <a:prstGeom prst="rect">
            <a:avLst/>
          </a:prstGeom>
        </p:spPr>
      </p:pic>
      <p:sp>
        <p:nvSpPr>
          <p:cNvPr id="122" name="Shape 80"/>
          <p:cNvSpPr/>
          <p:nvPr/>
        </p:nvSpPr>
        <p:spPr>
          <a:xfrm>
            <a:off x="8296351" y="4304995"/>
            <a:ext cx="1429207" cy="209398"/>
          </a:xfrm>
          <a:prstGeom prst="roundRect">
            <a:avLst>
              <a:gd name="adj" fmla="val 158793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3" name="Text 81"/>
          <p:cNvSpPr txBox="1"/>
          <p:nvPr/>
        </p:nvSpPr>
        <p:spPr>
          <a:xfrm>
            <a:off x="8296351" y="4304995"/>
            <a:ext cx="1429207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Modified MLP Output</a:t>
            </a:r>
            <a:endParaRPr lang="en-US" sz="800" dirty="0"/>
          </a:p>
        </p:txBody>
      </p:sp>
      <p:pic>
        <p:nvPicPr>
          <p:cNvPr id="124" name="Image 40" descr="preencoded.png">    </p:cNvPr>
          <p:cNvPicPr>
            <a:picLocks noChangeAspect="1"/>
          </p:cNvPicPr>
          <p:nvPr/>
        </p:nvPicPr>
        <p:blipFill>
          <a:blip r:embed="rId41"/>
          <a:srcRect l="-3205" r="-3205" t="0" b="0"/>
          <a:stretch/>
        </p:blipFill>
        <p:spPr>
          <a:xfrm>
            <a:off x="8973007" y="4572000"/>
            <a:ext cx="75895" cy="95098"/>
          </a:xfrm>
          <a:prstGeom prst="rect">
            <a:avLst/>
          </a:prstGeom>
        </p:spPr>
      </p:pic>
      <p:sp>
        <p:nvSpPr>
          <p:cNvPr id="125" name="Shape 82"/>
          <p:cNvSpPr/>
          <p:nvPr/>
        </p:nvSpPr>
        <p:spPr>
          <a:xfrm>
            <a:off x="8438998" y="4724705"/>
            <a:ext cx="1143000" cy="228600"/>
          </a:xfrm>
          <a:prstGeom prst="roundRect">
            <a:avLst>
              <a:gd name="adj" fmla="val 20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6" name="Text 83"/>
          <p:cNvSpPr txBox="1"/>
          <p:nvPr/>
        </p:nvSpPr>
        <p:spPr>
          <a:xfrm>
            <a:off x="8438998" y="4724705"/>
            <a:ext cx="1143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Residual Add</a:t>
            </a:r>
            <a:endParaRPr lang="en-US" sz="800" dirty="0"/>
          </a:p>
        </p:txBody>
      </p:sp>
      <p:pic>
        <p:nvPicPr>
          <p:cNvPr id="127" name="Image 41" descr="preencoded.png">    </p:cNvPr>
          <p:cNvPicPr>
            <a:picLocks noChangeAspect="1"/>
          </p:cNvPicPr>
          <p:nvPr/>
        </p:nvPicPr>
        <p:blipFill>
          <a:blip r:embed="rId42"/>
          <a:srcRect l="-3205" r="-3205" t="0" b="0"/>
          <a:stretch/>
        </p:blipFill>
        <p:spPr>
          <a:xfrm>
            <a:off x="8973007" y="5009998"/>
            <a:ext cx="75895" cy="95098"/>
          </a:xfrm>
          <a:prstGeom prst="rect">
            <a:avLst/>
          </a:prstGeom>
        </p:spPr>
      </p:pic>
      <p:sp>
        <p:nvSpPr>
          <p:cNvPr id="128" name="Shape 84"/>
          <p:cNvSpPr/>
          <p:nvPr/>
        </p:nvSpPr>
        <p:spPr>
          <a:xfrm>
            <a:off x="8343900" y="5162702"/>
            <a:ext cx="1333195" cy="209398"/>
          </a:xfrm>
          <a:prstGeom prst="roundRect">
            <a:avLst>
              <a:gd name="adj" fmla="val 158793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9" name="Text 85"/>
          <p:cNvSpPr txBox="1"/>
          <p:nvPr/>
        </p:nvSpPr>
        <p:spPr>
          <a:xfrm>
            <a:off x="8343900" y="5162702"/>
            <a:ext cx="133411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Output h_l</a:t>
            </a:r>
            <a:endParaRPr lang="en-US" sz="800" dirty="0"/>
          </a:p>
        </p:txBody>
      </p:sp>
      <p:pic>
        <p:nvPicPr>
          <p:cNvPr id="130" name="Image 42" descr="preencoded.png">    </p:cNvPr>
          <p:cNvPicPr>
            <a:picLocks noChangeAspect="1"/>
          </p:cNvPicPr>
          <p:nvPr/>
        </p:nvPicPr>
        <p:blipFill>
          <a:blip r:embed="rId43"/>
          <a:srcRect l="-3205" r="-3205" t="0" b="0"/>
          <a:stretch/>
        </p:blipFill>
        <p:spPr>
          <a:xfrm>
            <a:off x="8973007" y="5429707"/>
            <a:ext cx="75895" cy="95098"/>
          </a:xfrm>
          <a:prstGeom prst="rect">
            <a:avLst/>
          </a:prstGeom>
        </p:spPr>
      </p:pic>
      <p:sp>
        <p:nvSpPr>
          <p:cNvPr id="131" name="Text 86"/>
          <p:cNvSpPr txBox="1"/>
          <p:nvPr/>
        </p:nvSpPr>
        <p:spPr>
          <a:xfrm>
            <a:off x="8532266" y="5581498"/>
            <a:ext cx="132588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Layers / Output</a:t>
            </a:r>
            <a:endParaRPr lang="en-US" sz="800" dirty="0"/>
          </a:p>
        </p:txBody>
      </p:sp>
      <p:sp>
        <p:nvSpPr>
          <p:cNvPr id="132" name="Shape 87"/>
          <p:cNvSpPr/>
          <p:nvPr/>
        </p:nvSpPr>
        <p:spPr>
          <a:xfrm>
            <a:off x="6344107" y="2572207"/>
            <a:ext cx="1380744" cy="1209751"/>
          </a:xfrm>
          <a:prstGeom prst="roundRect">
            <a:avLst>
              <a:gd name="adj" fmla="val 4761"/>
            </a:avLst>
          </a:prstGeom>
          <a:solidFill>
            <a:srgbClr val="FFF7ED"/>
          </a:solidFill>
          <a:ln/>
        </p:spPr>
      </p:sp>
      <p:sp>
        <p:nvSpPr>
          <p:cNvPr id="133" name="Shape 88"/>
          <p:cNvSpPr/>
          <p:nvPr/>
        </p:nvSpPr>
        <p:spPr>
          <a:xfrm>
            <a:off x="6344107" y="2572207"/>
            <a:ext cx="28346" cy="1209751"/>
          </a:xfrm>
          <a:prstGeom prst="roundRect">
            <a:avLst>
              <a:gd name="adj" fmla="val 203203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34" name="Text 89"/>
          <p:cNvSpPr txBox="1"/>
          <p:nvPr/>
        </p:nvSpPr>
        <p:spPr>
          <a:xfrm>
            <a:off x="6467551" y="2648102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Mid-Layer Fusion</a:t>
            </a:r>
            <a:endParaRPr lang="en-US" sz="800" dirty="0"/>
          </a:p>
        </p:txBody>
      </p:sp>
      <p:sp>
        <p:nvSpPr>
          <p:cNvPr id="135" name="Text 90"/>
          <p:cNvSpPr txBox="1"/>
          <p:nvPr/>
        </p:nvSpPr>
        <p:spPr>
          <a:xfrm>
            <a:off x="6467551" y="2852928"/>
            <a:ext cx="11146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Perturbs hidden features inside the block</a:t>
            </a:r>
            <a:endParaRPr lang="en-US" sz="800" dirty="0"/>
          </a:p>
        </p:txBody>
      </p:sp>
      <p:sp>
        <p:nvSpPr>
          <p:cNvPr id="136" name="Text 91"/>
          <p:cNvSpPr txBox="1"/>
          <p:nvPr/>
        </p:nvSpPr>
        <p:spPr>
          <a:xfrm>
            <a:off x="6467551" y="3138221"/>
            <a:ext cx="8860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Effect propagates through later layers</a:t>
            </a:r>
            <a:endParaRPr lang="en-US" sz="800" dirty="0"/>
          </a:p>
        </p:txBody>
      </p:sp>
      <p:sp>
        <p:nvSpPr>
          <p:cNvPr id="137" name="Text 92"/>
          <p:cNvSpPr txBox="1"/>
          <p:nvPr/>
        </p:nvSpPr>
        <p:spPr>
          <a:xfrm>
            <a:off x="6467551" y="3424428"/>
            <a:ext cx="1143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Less direct control over final token logits</a:t>
            </a:r>
            <a:endParaRPr lang="en-US" sz="800" dirty="0"/>
          </a:p>
        </p:txBody>
      </p:sp>
      <p:sp>
        <p:nvSpPr>
          <p:cNvPr id="138" name="Shape 93"/>
          <p:cNvSpPr/>
          <p:nvPr/>
        </p:nvSpPr>
        <p:spPr>
          <a:xfrm>
            <a:off x="8906256" y="3943807"/>
            <a:ext cx="209398" cy="2093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9" name="Text 94"/>
          <p:cNvSpPr/>
          <p:nvPr/>
        </p:nvSpPr>
        <p:spPr>
          <a:xfrm>
            <a:off x="8906256" y="3943807"/>
            <a:ext cx="2103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000" dirty="0"/>
          </a:p>
        </p:txBody>
      </p:sp>
      <p:pic>
        <p:nvPicPr>
          <p:cNvPr id="140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4162349" y="3943807"/>
            <a:ext cx="152705" cy="152705"/>
          </a:xfrm>
          <a:prstGeom prst="rect">
            <a:avLst/>
          </a:prstGeom>
        </p:spPr>
      </p:pic>
      <p:pic>
        <p:nvPicPr>
          <p:cNvPr id="141" name="Image 44" descr="preencoded.png">    </p:cNvPr>
          <p:cNvPicPr>
            <a:picLocks noChangeAspect="1"/>
          </p:cNvPicPr>
          <p:nvPr/>
        </p:nvPicPr>
        <p:blipFill>
          <a:blip r:embed="rId45"/>
          <a:srcRect l="0" r="0" t="-19831" b="-19831"/>
          <a:stretch/>
        </p:blipFill>
        <p:spPr>
          <a:xfrm>
            <a:off x="4214470" y="3981298"/>
            <a:ext cx="47549" cy="75895"/>
          </a:xfrm>
          <a:prstGeom prst="rect">
            <a:avLst/>
          </a:prstGeom>
        </p:spPr>
      </p:pic>
      <p:pic>
        <p:nvPicPr>
          <p:cNvPr id="142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10401300" y="3219602"/>
            <a:ext cx="152705" cy="152705"/>
          </a:xfrm>
          <a:prstGeom prst="rect">
            <a:avLst/>
          </a:prstGeom>
        </p:spPr>
      </p:pic>
      <p:pic>
        <p:nvPicPr>
          <p:cNvPr id="143" name="Image 46" descr="preencoded.png">    </p:cNvPr>
          <p:cNvPicPr>
            <a:picLocks noChangeAspect="1"/>
          </p:cNvPicPr>
          <p:nvPr/>
        </p:nvPicPr>
        <p:blipFill>
          <a:blip r:embed="rId47"/>
          <a:srcRect l="0" r="0" t="-19831" b="-19831"/>
          <a:stretch/>
        </p:blipFill>
        <p:spPr>
          <a:xfrm>
            <a:off x="10453421" y="3258007"/>
            <a:ext cx="47549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1305" y="228600"/>
            <a:ext cx="5839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 and Tensor Shapes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609905"/>
            <a:ext cx="6525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evidence definitions, frozen/trainable components, and FFN parallel injection equations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0" r="-10" t="0" b="0"/>
          <a:stretch/>
        </p:blipFill>
        <p:spPr>
          <a:xfrm>
            <a:off x="10068458" y="228600"/>
            <a:ext cx="1742846" cy="3429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068458" y="228600"/>
            <a:ext cx="1742846" cy="342900"/>
          </a:xfrm>
          <a:prstGeom prst="roundRect">
            <a:avLst>
              <a:gd name="adj" fmla="val 118519"/>
            </a:avLst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354666" y="228600"/>
            <a:ext cx="1457554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variants supported 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6489" b="-16489"/>
          <a:stretch/>
        </p:blipFill>
        <p:spPr>
          <a:xfrm>
            <a:off x="10230307" y="338328"/>
            <a:ext cx="85954" cy="1143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1305" y="761695"/>
            <a:ext cx="5600700" cy="3590849"/>
          </a:xfrm>
          <a:prstGeom prst="roundRect">
            <a:avLst>
              <a:gd name="adj" fmla="val 16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4205" y="923544"/>
            <a:ext cx="5095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Evidence Definitions 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544" b="-5544"/>
          <a:stretch/>
        </p:blipFill>
        <p:spPr>
          <a:xfrm>
            <a:off x="543154" y="959206"/>
            <a:ext cx="105156" cy="1335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3154" y="1238098"/>
            <a:ext cx="5277002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6598" y="1362456"/>
            <a:ext cx="103784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Output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4705502" y="1376172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z_raw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R^(B×D_e)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666598" y="1609344"/>
            <a:ext cx="5029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expert feature extraction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3154" y="2005279"/>
            <a:ext cx="5277002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66598" y="2128723"/>
            <a:ext cx="8714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Projector P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3810305" y="2143354"/>
            <a:ext cx="1886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R^(B×D_e) → z_tokens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R^(B×K×H)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666598" y="2376526"/>
            <a:ext cx="5029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expert output to token space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43154" y="2771546"/>
            <a:ext cx="5277002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66598" y="2895905"/>
            <a:ext cx="11960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Pooling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3734410" y="2909621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z_ctx = mean_K(z_tokens)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R^(B×H)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666598" y="3143707"/>
            <a:ext cx="5029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evidence tokens to context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43154" y="3538728"/>
            <a:ext cx="5277002" cy="657454"/>
          </a:xfrm>
          <a:prstGeom prst="roundRect">
            <a:avLst>
              <a:gd name="adj" fmla="val 322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66598" y="3662172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4934102" y="3676802"/>
            <a:ext cx="88788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z̃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R^(B×T×H)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66598" y="3909974"/>
            <a:ext cx="5029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Broadcasts context to sequence length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81305" y="4505249"/>
            <a:ext cx="5600700" cy="647395"/>
          </a:xfrm>
          <a:prstGeom prst="roundRect">
            <a:avLst>
              <a:gd name="adj" fmla="val 498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28193" y="4629607"/>
            <a:ext cx="52303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Notation: B=batch, T=seq_len, K=evidence_tokens, H=hidden_dim, D_e=expert_dim, V=vocab_size </a:t>
            </a:r>
            <a:endParaRPr lang="en-US" sz="9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6489" b="-16489"/>
          <a:stretch/>
        </p:blipFill>
        <p:spPr>
          <a:xfrm>
            <a:off x="504749" y="4643323"/>
            <a:ext cx="85954" cy="1143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210605" y="761695"/>
            <a:ext cx="5600700" cy="1762049"/>
          </a:xfrm>
          <a:prstGeom prst="roundRect">
            <a:avLst>
              <a:gd name="adj" fmla="val 67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553505" y="923544"/>
            <a:ext cx="5095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vs Trainable Components 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1413" b="-21413"/>
          <a:stretch/>
        </p:blipFill>
        <p:spPr>
          <a:xfrm>
            <a:off x="6372454" y="959206"/>
            <a:ext cx="105156" cy="13350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372454" y="1238098"/>
            <a:ext cx="2581351" cy="1123798"/>
          </a:xfrm>
          <a:prstGeom prst="roundRect">
            <a:avLst>
              <a:gd name="adj" fmla="val 827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619342" y="1362456"/>
            <a:ext cx="221101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</a:t>
            </a:r>
            <a:endParaRPr lang="en-US" sz="9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178" b="-8178"/>
          <a:stretch/>
        </p:blipFill>
        <p:spPr>
          <a:xfrm>
            <a:off x="6495898" y="1386230"/>
            <a:ext cx="85954" cy="1143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495898" y="1609344"/>
            <a:ext cx="233446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backbone transformer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base LM head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uploaded client expert weights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by default when bundle loaded 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9068105" y="1238098"/>
            <a:ext cx="2581351" cy="1123798"/>
          </a:xfrm>
          <a:prstGeom prst="roundRect">
            <a:avLst>
              <a:gd name="adj" fmla="val 8275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9314993" y="1362456"/>
            <a:ext cx="221101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Trainable </a:t>
            </a:r>
            <a:endParaRPr lang="en-US" sz="9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3111" b="-33111"/>
          <a:stretch/>
        </p:blipFill>
        <p:spPr>
          <a:xfrm>
            <a:off x="9191549" y="1386230"/>
            <a:ext cx="85954" cy="1143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191549" y="1609344"/>
            <a:ext cx="233446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connector/projector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router branch parameters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loaded fusion policy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task-specific connector training </a:t>
            </a:r>
            <a:endParaRPr lang="en-US" sz="800" dirty="0"/>
          </a:p>
        </p:txBody>
      </p:sp>
      <p:sp>
        <p:nvSpPr>
          <p:cNvPr id="43" name="Shape 34"/>
          <p:cNvSpPr/>
          <p:nvPr/>
        </p:nvSpPr>
        <p:spPr>
          <a:xfrm>
            <a:off x="6210605" y="2676449"/>
            <a:ext cx="5600700" cy="3419856"/>
          </a:xfrm>
          <a:prstGeom prst="roundRect">
            <a:avLst>
              <a:gd name="adj" fmla="val 17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6553505" y="2838298"/>
            <a:ext cx="5095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In-Block FFN Parallel Injection </a:t>
            </a:r>
            <a:endParaRPr lang="en-US" sz="10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5544" b="-5544"/>
          <a:stretch/>
        </p:blipFill>
        <p:spPr>
          <a:xfrm>
            <a:off x="6372454" y="2873959"/>
            <a:ext cx="105156" cy="133502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6372454" y="3152851"/>
            <a:ext cx="5277002" cy="2066544"/>
          </a:xfrm>
          <a:prstGeom prst="roundRect">
            <a:avLst>
              <a:gd name="adj" fmla="val 3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6495898" y="327629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 = LN2(h_attn)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R^(B×T×H)</a:t>
            </a:r>
            <a:endParaRPr lang="en-US" sz="800" dirty="0"/>
          </a:p>
        </p:txBody>
      </p:sp>
      <p:sp>
        <p:nvSpPr>
          <p:cNvPr id="48" name="Text 38"/>
          <p:cNvSpPr txBox="1"/>
          <p:nvPr/>
        </p:nvSpPr>
        <p:spPr>
          <a:xfrm>
            <a:off x="6495898" y="348203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 = FFN_frozen(u)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R^(B×T×H)</a:t>
            </a:r>
            <a:endParaRPr lang="en-US" sz="800" dirty="0"/>
          </a:p>
        </p:txBody>
      </p:sp>
      <p:sp>
        <p:nvSpPr>
          <p:cNvPr id="49" name="Text 39"/>
          <p:cNvSpPr txBox="1"/>
          <p:nvPr/>
        </p:nvSpPr>
        <p:spPr>
          <a:xfrm>
            <a:off x="6495898" y="368777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= concat(u, z̃)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R^(B×T×2H)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6495898" y="389351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h_exp = MLP_router(x)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R^(B×T×H)</a:t>
            </a:r>
            <a:endParaRPr lang="en-US" sz="800" dirty="0"/>
          </a:p>
        </p:txBody>
      </p:sp>
      <p:sp>
        <p:nvSpPr>
          <p:cNvPr id="51" name="Text 41"/>
          <p:cNvSpPr txBox="1"/>
          <p:nvPr/>
        </p:nvSpPr>
        <p:spPr>
          <a:xfrm>
            <a:off x="6495898" y="409925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 = σ(W_g x)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R^(B×T×1)</a:t>
            </a:r>
            <a:endParaRPr lang="en-US" sz="800" dirty="0"/>
          </a:p>
        </p:txBody>
      </p:sp>
      <p:sp>
        <p:nvSpPr>
          <p:cNvPr id="52" name="Text 42"/>
          <p:cNvSpPr txBox="1"/>
          <p:nvPr/>
        </p:nvSpPr>
        <p:spPr>
          <a:xfrm>
            <a:off x="6495898" y="430499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= σ(W_c x)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R^(B×T×H)</a:t>
            </a:r>
            <a:endParaRPr lang="en-US" sz="800" dirty="0"/>
          </a:p>
        </p:txBody>
      </p:sp>
      <p:sp>
        <p:nvSpPr>
          <p:cNvPr id="53" name="Text 43"/>
          <p:cNvSpPr txBox="1"/>
          <p:nvPr/>
        </p:nvSpPr>
        <p:spPr>
          <a:xfrm>
            <a:off x="6495898" y="451073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= g ⊙ (c ⊙ h_exp) ∈ </a:t>
            </a:r>
            <a:pPr algn="l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R^(B×T×H)</a:t>
            </a:r>
            <a:endParaRPr lang="en-US" sz="800" dirty="0"/>
          </a:p>
        </p:txBody>
      </p:sp>
      <p:sp>
        <p:nvSpPr>
          <p:cNvPr id="54" name="Text 44"/>
          <p:cNvSpPr txBox="1"/>
          <p:nvPr/>
        </p:nvSpPr>
        <p:spPr>
          <a:xfrm>
            <a:off x="6495898" y="471647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= f + Δ</a:t>
            </a:r>
            <a:endParaRPr lang="en-US" sz="800" dirty="0"/>
          </a:p>
        </p:txBody>
      </p:sp>
      <p:sp>
        <p:nvSpPr>
          <p:cNvPr id="55" name="Text 45"/>
          <p:cNvSpPr txBox="1"/>
          <p:nvPr/>
        </p:nvSpPr>
        <p:spPr>
          <a:xfrm>
            <a:off x="6495898" y="4922215"/>
            <a:ext cx="5029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x_l = h_attn + y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381305" y="5767121"/>
            <a:ext cx="11430000" cy="333756"/>
          </a:xfrm>
          <a:prstGeom prst="roundRect">
            <a:avLst>
              <a:gd name="adj" fmla="val 939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696773" y="5853074"/>
            <a:ext cx="42876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Current code supports both post_attn and pre_ffn router_parallel variants </a:t>
            </a:r>
            <a:endParaRPr lang="en-US" sz="8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170" b="-11170"/>
          <a:stretch/>
        </p:blipFill>
        <p:spPr>
          <a:xfrm>
            <a:off x="543154" y="5875934"/>
            <a:ext cx="85954" cy="105156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0040112" y="5853074"/>
            <a:ext cx="195498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Both variants active in codebase </a:t>
            </a:r>
            <a:endParaRPr lang="en-US" sz="800" dirty="0"/>
          </a:p>
        </p:txBody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170" b="-11170"/>
          <a:stretch/>
        </p:blipFill>
        <p:spPr>
          <a:xfrm>
            <a:off x="9886493" y="5875934"/>
            <a:ext cx="85954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1305" y="228600"/>
            <a:ext cx="4914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Strategy: Frozen vs Trainable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609905"/>
            <a:ext cx="4229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codepath and runtime contract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211" r="-211" t="0" b="0"/>
          <a:stretch/>
        </p:blipFill>
        <p:spPr>
          <a:xfrm>
            <a:off x="10131552" y="228600"/>
            <a:ext cx="1686154" cy="3429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31552" y="228600"/>
            <a:ext cx="1686154" cy="342900"/>
          </a:xfrm>
          <a:prstGeom prst="roundRect">
            <a:avLst>
              <a:gd name="adj" fmla="val 118519"/>
            </a:avLst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446106" y="228600"/>
            <a:ext cx="1371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Implementation 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93401" y="338328"/>
            <a:ext cx="114300" cy="1143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1305" y="1047902"/>
            <a:ext cx="5600700" cy="3991356"/>
          </a:xfrm>
          <a:prstGeom prst="roundRect">
            <a:avLst>
              <a:gd name="adj" fmla="val 875"/>
            </a:avLst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3154" y="1209751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604418" y="1266444"/>
            <a:ext cx="105156" cy="1143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7649" y="1224382"/>
            <a:ext cx="15819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stays frozen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43154" y="1552651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7395" y="1686154"/>
            <a:ext cx="114300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38505" y="1657807"/>
            <a:ext cx="14136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Qwen backbone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647395" y="1867205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transformer architecture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543154" y="2204618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647395" y="2338121"/>
            <a:ext cx="142646" cy="1143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6851" y="2309774"/>
            <a:ext cx="213238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language-model parameters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647395" y="2519172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 head and token embeddings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543154" y="2857500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7395" y="2991002"/>
            <a:ext cx="114300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38505" y="2962656"/>
            <a:ext cx="17803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server runtime blocks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647395" y="3172054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and processing layers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543154" y="3510382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647395" y="3642970"/>
            <a:ext cx="142646" cy="1143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66851" y="3614623"/>
            <a:ext cx="21086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Uploaded client semantic expert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647395" y="3824021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default when bundle loaded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543154" y="4162349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7395" y="4295851"/>
            <a:ext cx="114300" cy="1143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38505" y="4267505"/>
            <a:ext cx="17684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 compatibility check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647395" y="4476902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attachment verification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6210605" y="1047902"/>
            <a:ext cx="5600700" cy="3991356"/>
          </a:xfrm>
          <a:prstGeom prst="roundRect">
            <a:avLst>
              <a:gd name="adj" fmla="val 875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6372454" y="1209751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-783" r="-783" t="0" b="0"/>
          <a:stretch/>
        </p:blipFill>
        <p:spPr>
          <a:xfrm>
            <a:off x="6420002" y="1271930"/>
            <a:ext cx="133502" cy="10515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676949" y="1224382"/>
            <a:ext cx="10213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trains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6372454" y="1552651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-1911" r="-1911" t="0" b="0"/>
          <a:stretch/>
        </p:blipFill>
        <p:spPr>
          <a:xfrm>
            <a:off x="6476695" y="1686154"/>
            <a:ext cx="133502" cy="1143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687007" y="1657807"/>
            <a:ext cx="201808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projector / connector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6476695" y="1867205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expert to model space</a:t>
            </a:r>
            <a:endParaRPr lang="en-US" sz="800" dirty="0"/>
          </a:p>
        </p:txBody>
      </p:sp>
      <p:sp>
        <p:nvSpPr>
          <p:cNvPr id="42" name="Shape 30"/>
          <p:cNvSpPr/>
          <p:nvPr/>
        </p:nvSpPr>
        <p:spPr>
          <a:xfrm>
            <a:off x="6372454" y="2204618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6476695" y="2338121"/>
            <a:ext cx="105156" cy="11430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6657746" y="2309774"/>
            <a:ext cx="18818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 branch / fusion policy</a:t>
            </a:r>
            <a:endParaRPr lang="en-US" sz="900" dirty="0"/>
          </a:p>
        </p:txBody>
      </p:sp>
      <p:sp>
        <p:nvSpPr>
          <p:cNvPr id="45" name="Text 32"/>
          <p:cNvSpPr txBox="1"/>
          <p:nvPr/>
        </p:nvSpPr>
        <p:spPr>
          <a:xfrm>
            <a:off x="6476695" y="2519172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Injection routing logic</a:t>
            </a:r>
            <a:endParaRPr lang="en-US" sz="800" dirty="0"/>
          </a:p>
        </p:txBody>
      </p:sp>
      <p:sp>
        <p:nvSpPr>
          <p:cNvPr id="46" name="Shape 33"/>
          <p:cNvSpPr/>
          <p:nvPr/>
        </p:nvSpPr>
        <p:spPr>
          <a:xfrm>
            <a:off x="6372454" y="2857500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6476695" y="2991002"/>
            <a:ext cx="133502" cy="11430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687007" y="2962656"/>
            <a:ext cx="15435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fusion policy</a:t>
            </a:r>
            <a:endParaRPr lang="en-US" sz="900" dirty="0"/>
          </a:p>
        </p:txBody>
      </p:sp>
      <p:sp>
        <p:nvSpPr>
          <p:cNvPr id="49" name="Text 35"/>
          <p:cNvSpPr txBox="1"/>
          <p:nvPr/>
        </p:nvSpPr>
        <p:spPr>
          <a:xfrm>
            <a:off x="6476695" y="3172054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 frozen by config</a:t>
            </a:r>
            <a:endParaRPr lang="en-US" sz="800" dirty="0"/>
          </a:p>
        </p:txBody>
      </p:sp>
      <p:sp>
        <p:nvSpPr>
          <p:cNvPr id="50" name="Shape 36"/>
          <p:cNvSpPr/>
          <p:nvPr/>
        </p:nvSpPr>
        <p:spPr>
          <a:xfrm>
            <a:off x="6372454" y="3510382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476695" y="3642970"/>
            <a:ext cx="114300" cy="11430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6667805" y="3614623"/>
            <a:ext cx="21086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Task-specific connector training</a:t>
            </a:r>
            <a:endParaRPr lang="en-US" sz="900" dirty="0"/>
          </a:p>
        </p:txBody>
      </p:sp>
      <p:sp>
        <p:nvSpPr>
          <p:cNvPr id="53" name="Text 38"/>
          <p:cNvSpPr txBox="1"/>
          <p:nvPr/>
        </p:nvSpPr>
        <p:spPr>
          <a:xfrm>
            <a:off x="6476695" y="3824021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connector path</a:t>
            </a:r>
            <a:endParaRPr lang="en-US" sz="800" dirty="0"/>
          </a:p>
        </p:txBody>
      </p:sp>
      <p:sp>
        <p:nvSpPr>
          <p:cNvPr id="54" name="Shape 39"/>
          <p:cNvSpPr/>
          <p:nvPr/>
        </p:nvSpPr>
        <p:spPr>
          <a:xfrm>
            <a:off x="6372454" y="4162349"/>
            <a:ext cx="5277002" cy="580644"/>
          </a:xfrm>
          <a:prstGeom prst="roundRect">
            <a:avLst>
              <a:gd name="adj" fmla="val 309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476695" y="4295851"/>
            <a:ext cx="114300" cy="114300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6667805" y="4267505"/>
            <a:ext cx="23426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end-to-end backbone finetuning</a:t>
            </a:r>
            <a:endParaRPr lang="en-US" sz="900" dirty="0"/>
          </a:p>
        </p:txBody>
      </p:sp>
      <p:sp>
        <p:nvSpPr>
          <p:cNvPr id="57" name="Text 41"/>
          <p:cNvSpPr txBox="1"/>
          <p:nvPr/>
        </p:nvSpPr>
        <p:spPr>
          <a:xfrm>
            <a:off x="6476695" y="4476902"/>
            <a:ext cx="5067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Plan-1++ task-matrix runs</a:t>
            </a:r>
            <a:endParaRPr lang="en-US" sz="800" dirty="0"/>
          </a:p>
        </p:txBody>
      </p:sp>
      <p:sp>
        <p:nvSpPr>
          <p:cNvPr id="58" name="Shape 42"/>
          <p:cNvSpPr/>
          <p:nvPr/>
        </p:nvSpPr>
        <p:spPr>
          <a:xfrm>
            <a:off x="381305" y="5191049"/>
            <a:ext cx="11430000" cy="1000354"/>
          </a:xfrm>
          <a:prstGeom prst="roundRect">
            <a:avLst>
              <a:gd name="adj" fmla="val 208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43"/>
          <p:cNvSpPr txBox="1"/>
          <p:nvPr/>
        </p:nvSpPr>
        <p:spPr>
          <a:xfrm>
            <a:off x="705002" y="5315407"/>
            <a:ext cx="15727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Sequence </a:t>
            </a:r>
            <a:endParaRPr lang="en-US" sz="900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504749" y="5340096"/>
            <a:ext cx="123444" cy="123444"/>
          </a:xfrm>
          <a:prstGeom prst="rect">
            <a:avLst/>
          </a:prstGeom>
        </p:spPr>
      </p:pic>
      <p:sp>
        <p:nvSpPr>
          <p:cNvPr id="61" name="Shape 44"/>
          <p:cNvSpPr/>
          <p:nvPr/>
        </p:nvSpPr>
        <p:spPr>
          <a:xfrm>
            <a:off x="504749" y="5576926"/>
            <a:ext cx="1657807" cy="495605"/>
          </a:xfrm>
          <a:prstGeom prst="roundRect">
            <a:avLst>
              <a:gd name="adj" fmla="val 42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45"/>
          <p:cNvSpPr/>
          <p:nvPr/>
        </p:nvSpPr>
        <p:spPr>
          <a:xfrm>
            <a:off x="629107" y="5664708"/>
            <a:ext cx="152705" cy="1527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46"/>
          <p:cNvSpPr/>
          <p:nvPr/>
        </p:nvSpPr>
        <p:spPr>
          <a:xfrm>
            <a:off x="629107" y="5664708"/>
            <a:ext cx="152705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64" name="Text 47"/>
          <p:cNvSpPr txBox="1"/>
          <p:nvPr/>
        </p:nvSpPr>
        <p:spPr>
          <a:xfrm>
            <a:off x="838505" y="5662879"/>
            <a:ext cx="8449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data</a:t>
            </a:r>
            <a:endParaRPr lang="en-US" sz="800" dirty="0"/>
          </a:p>
        </p:txBody>
      </p:sp>
      <p:sp>
        <p:nvSpPr>
          <p:cNvPr id="65" name="Text 48"/>
          <p:cNvSpPr txBox="1"/>
          <p:nvPr/>
        </p:nvSpPr>
        <p:spPr>
          <a:xfrm>
            <a:off x="629107" y="5838444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Sanitization</a:t>
            </a:r>
            <a:endParaRPr lang="en-US" sz="800" dirty="0"/>
          </a:p>
        </p:txBody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2230222" y="5765292"/>
            <a:ext cx="105156" cy="114300"/>
          </a:xfrm>
          <a:prstGeom prst="rect">
            <a:avLst/>
          </a:prstGeom>
        </p:spPr>
      </p:pic>
      <p:sp>
        <p:nvSpPr>
          <p:cNvPr id="67" name="Shape 49"/>
          <p:cNvSpPr/>
          <p:nvPr/>
        </p:nvSpPr>
        <p:spPr>
          <a:xfrm>
            <a:off x="2411273" y="5576926"/>
            <a:ext cx="1657807" cy="495605"/>
          </a:xfrm>
          <a:prstGeom prst="roundRect">
            <a:avLst>
              <a:gd name="adj" fmla="val 42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2534717" y="5664708"/>
            <a:ext cx="152705" cy="1527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2534717" y="5664708"/>
            <a:ext cx="152705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70" name="Text 52"/>
          <p:cNvSpPr txBox="1"/>
          <p:nvPr/>
        </p:nvSpPr>
        <p:spPr>
          <a:xfrm>
            <a:off x="2745029" y="5662879"/>
            <a:ext cx="9079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trains</a:t>
            </a:r>
            <a:endParaRPr lang="en-US" sz="800" dirty="0"/>
          </a:p>
        </p:txBody>
      </p:sp>
      <p:sp>
        <p:nvSpPr>
          <p:cNvPr id="71" name="Text 53"/>
          <p:cNvSpPr txBox="1"/>
          <p:nvPr/>
        </p:nvSpPr>
        <p:spPr>
          <a:xfrm>
            <a:off x="2534717" y="5838444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Export bundle</a:t>
            </a:r>
            <a:endParaRPr lang="en-US" sz="800" dirty="0"/>
          </a:p>
        </p:txBody>
      </p:sp>
      <p:pic>
        <p:nvPicPr>
          <p:cNvPr id="72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4136746" y="5765292"/>
            <a:ext cx="105156" cy="114300"/>
          </a:xfrm>
          <a:prstGeom prst="rect">
            <a:avLst/>
          </a:prstGeom>
        </p:spPr>
      </p:pic>
      <p:sp>
        <p:nvSpPr>
          <p:cNvPr id="73" name="Shape 54"/>
          <p:cNvSpPr/>
          <p:nvPr/>
        </p:nvSpPr>
        <p:spPr>
          <a:xfrm>
            <a:off x="4317797" y="5576926"/>
            <a:ext cx="1657807" cy="495605"/>
          </a:xfrm>
          <a:prstGeom prst="roundRect">
            <a:avLst>
              <a:gd name="adj" fmla="val 42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55"/>
          <p:cNvSpPr/>
          <p:nvPr/>
        </p:nvSpPr>
        <p:spPr>
          <a:xfrm>
            <a:off x="4442155" y="5664708"/>
            <a:ext cx="152705" cy="1527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56"/>
          <p:cNvSpPr/>
          <p:nvPr/>
        </p:nvSpPr>
        <p:spPr>
          <a:xfrm>
            <a:off x="4442155" y="5664708"/>
            <a:ext cx="152705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76" name="Text 57"/>
          <p:cNvSpPr txBox="1"/>
          <p:nvPr/>
        </p:nvSpPr>
        <p:spPr>
          <a:xfrm>
            <a:off x="4651553" y="5662879"/>
            <a:ext cx="8503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loads</a:t>
            </a:r>
            <a:endParaRPr lang="en-US" sz="800" dirty="0"/>
          </a:p>
        </p:txBody>
      </p:sp>
      <p:sp>
        <p:nvSpPr>
          <p:cNvPr id="77" name="Text 58"/>
          <p:cNvSpPr txBox="1"/>
          <p:nvPr/>
        </p:nvSpPr>
        <p:spPr>
          <a:xfrm>
            <a:off x="4442155" y="5838444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Attach policy</a:t>
            </a:r>
            <a:endParaRPr lang="en-US" sz="800" dirty="0"/>
          </a:p>
        </p:txBody>
      </p:sp>
      <p:pic>
        <p:nvPicPr>
          <p:cNvPr id="78" name="Image 17" descr="preencoded.png">    </p:cNvPr>
          <p:cNvPicPr>
            <a:picLocks noChangeAspect="1"/>
          </p:cNvPicPr>
          <p:nvPr/>
        </p:nvPicPr>
        <p:blipFill>
          <a:blip r:embed="rId18"/>
          <a:srcRect l="-2571" r="-2571" t="0" b="0"/>
          <a:stretch/>
        </p:blipFill>
        <p:spPr>
          <a:xfrm>
            <a:off x="6043270" y="5765292"/>
            <a:ext cx="105156" cy="114300"/>
          </a:xfrm>
          <a:prstGeom prst="rect">
            <a:avLst/>
          </a:prstGeom>
        </p:spPr>
      </p:pic>
      <p:sp>
        <p:nvSpPr>
          <p:cNvPr id="79" name="Shape 59"/>
          <p:cNvSpPr/>
          <p:nvPr/>
        </p:nvSpPr>
        <p:spPr>
          <a:xfrm>
            <a:off x="6224321" y="5576926"/>
            <a:ext cx="1657807" cy="495605"/>
          </a:xfrm>
          <a:prstGeom prst="roundRect">
            <a:avLst>
              <a:gd name="adj" fmla="val 42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60"/>
          <p:cNvSpPr/>
          <p:nvPr/>
        </p:nvSpPr>
        <p:spPr>
          <a:xfrm>
            <a:off x="6348679" y="5664708"/>
            <a:ext cx="152705" cy="1527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61"/>
          <p:cNvSpPr/>
          <p:nvPr/>
        </p:nvSpPr>
        <p:spPr>
          <a:xfrm>
            <a:off x="6348679" y="5664708"/>
            <a:ext cx="152705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82" name="Text 62"/>
          <p:cNvSpPr txBox="1"/>
          <p:nvPr/>
        </p:nvSpPr>
        <p:spPr>
          <a:xfrm>
            <a:off x="6558077" y="5662879"/>
            <a:ext cx="776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conn.</a:t>
            </a:r>
            <a:endParaRPr lang="en-US" sz="800" dirty="0"/>
          </a:p>
        </p:txBody>
      </p:sp>
      <p:sp>
        <p:nvSpPr>
          <p:cNvPr id="83" name="Text 63"/>
          <p:cNvSpPr txBox="1"/>
          <p:nvPr/>
        </p:nvSpPr>
        <p:spPr>
          <a:xfrm>
            <a:off x="6348679" y="5838444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router only</a:t>
            </a:r>
            <a:endParaRPr lang="en-US" sz="800" dirty="0"/>
          </a:p>
        </p:txBody>
      </p:sp>
      <p:pic>
        <p:nvPicPr>
          <p:cNvPr id="84" name="Image 18" descr="preencoded.png">    </p:cNvPr>
          <p:cNvPicPr>
            <a:picLocks noChangeAspect="1"/>
          </p:cNvPicPr>
          <p:nvPr/>
        </p:nvPicPr>
        <p:blipFill>
          <a:blip r:embed="rId19"/>
          <a:srcRect l="-2571" r="-2571" t="0" b="0"/>
          <a:stretch/>
        </p:blipFill>
        <p:spPr>
          <a:xfrm>
            <a:off x="7949794" y="5765292"/>
            <a:ext cx="105156" cy="114300"/>
          </a:xfrm>
          <a:prstGeom prst="rect">
            <a:avLst/>
          </a:prstGeom>
        </p:spPr>
      </p:pic>
      <p:sp>
        <p:nvSpPr>
          <p:cNvPr id="85" name="Shape 64"/>
          <p:cNvSpPr/>
          <p:nvPr/>
        </p:nvSpPr>
        <p:spPr>
          <a:xfrm>
            <a:off x="8130845" y="5576926"/>
            <a:ext cx="1657807" cy="495605"/>
          </a:xfrm>
          <a:prstGeom prst="roundRect">
            <a:avLst>
              <a:gd name="adj" fmla="val 42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65"/>
          <p:cNvSpPr/>
          <p:nvPr/>
        </p:nvSpPr>
        <p:spPr>
          <a:xfrm>
            <a:off x="8255203" y="5664708"/>
            <a:ext cx="152705" cy="1527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66"/>
          <p:cNvSpPr/>
          <p:nvPr/>
        </p:nvSpPr>
        <p:spPr>
          <a:xfrm>
            <a:off x="8255203" y="5664708"/>
            <a:ext cx="152705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88" name="Text 67"/>
          <p:cNvSpPr txBox="1"/>
          <p:nvPr/>
        </p:nvSpPr>
        <p:spPr>
          <a:xfrm>
            <a:off x="8464601" y="5662879"/>
            <a:ext cx="63733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</a:t>
            </a:r>
            <a:endParaRPr lang="en-US" sz="800" dirty="0"/>
          </a:p>
        </p:txBody>
      </p:sp>
      <p:sp>
        <p:nvSpPr>
          <p:cNvPr id="89" name="Text 68"/>
          <p:cNvSpPr txBox="1"/>
          <p:nvPr/>
        </p:nvSpPr>
        <p:spPr>
          <a:xfrm>
            <a:off x="8255203" y="5838444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Constrained</a:t>
            </a:r>
            <a:endParaRPr lang="en-US" sz="800" dirty="0"/>
          </a:p>
        </p:txBody>
      </p:sp>
      <p:pic>
        <p:nvPicPr>
          <p:cNvPr id="90" name="Image 19" descr="preencoded.png">    </p:cNvPr>
          <p:cNvPicPr>
            <a:picLocks noChangeAspect="1"/>
          </p:cNvPicPr>
          <p:nvPr/>
        </p:nvPicPr>
        <p:blipFill>
          <a:blip r:embed="rId20"/>
          <a:srcRect l="-2571" r="-2571" t="0" b="0"/>
          <a:stretch/>
        </p:blipFill>
        <p:spPr>
          <a:xfrm>
            <a:off x="9856318" y="5765292"/>
            <a:ext cx="105156" cy="114300"/>
          </a:xfrm>
          <a:prstGeom prst="rect">
            <a:avLst/>
          </a:prstGeom>
        </p:spPr>
      </p:pic>
      <p:sp>
        <p:nvSpPr>
          <p:cNvPr id="91" name="Shape 69"/>
          <p:cNvSpPr/>
          <p:nvPr/>
        </p:nvSpPr>
        <p:spPr>
          <a:xfrm>
            <a:off x="10037369" y="5576926"/>
            <a:ext cx="1657807" cy="495605"/>
          </a:xfrm>
          <a:prstGeom prst="roundRect">
            <a:avLst>
              <a:gd name="adj" fmla="val 425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70"/>
          <p:cNvSpPr/>
          <p:nvPr/>
        </p:nvSpPr>
        <p:spPr>
          <a:xfrm>
            <a:off x="10161727" y="5664708"/>
            <a:ext cx="152705" cy="1527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71"/>
          <p:cNvSpPr/>
          <p:nvPr/>
        </p:nvSpPr>
        <p:spPr>
          <a:xfrm>
            <a:off x="10161727" y="5664708"/>
            <a:ext cx="152705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  <p:sp>
        <p:nvSpPr>
          <p:cNvPr id="94" name="Text 72"/>
          <p:cNvSpPr txBox="1"/>
          <p:nvPr/>
        </p:nvSpPr>
        <p:spPr>
          <a:xfrm>
            <a:off x="10371125" y="5662879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800" dirty="0"/>
          </a:p>
        </p:txBody>
      </p:sp>
      <p:sp>
        <p:nvSpPr>
          <p:cNvPr id="95" name="Text 73"/>
          <p:cNvSpPr txBox="1"/>
          <p:nvPr/>
        </p:nvSpPr>
        <p:spPr>
          <a:xfrm>
            <a:off x="10161727" y="5838444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+ Rat.</a:t>
            </a:r>
            <a:endParaRPr lang="en-US" sz="800" dirty="0"/>
          </a:p>
        </p:txBody>
      </p:sp>
      <p:sp>
        <p:nvSpPr>
          <p:cNvPr id="96" name="Shape 74"/>
          <p:cNvSpPr/>
          <p:nvPr/>
        </p:nvSpPr>
        <p:spPr>
          <a:xfrm>
            <a:off x="381305" y="6377026"/>
            <a:ext cx="11430000" cy="333756"/>
          </a:xfrm>
          <a:prstGeom prst="roundRect">
            <a:avLst>
              <a:gd name="adj" fmla="val 9393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7" name="Text 75"/>
          <p:cNvSpPr txBox="1"/>
          <p:nvPr/>
        </p:nvSpPr>
        <p:spPr>
          <a:xfrm>
            <a:off x="715061" y="6462979"/>
            <a:ext cx="5982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Matches current task-matrix runner behavior: trainable connector path, frozen backbone, bounded decode </a:t>
            </a:r>
            <a:endParaRPr lang="en-US" sz="800" dirty="0"/>
          </a:p>
        </p:txBody>
      </p:sp>
      <p:pic>
        <p:nvPicPr>
          <p:cNvPr id="98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543154" y="6484925"/>
            <a:ext cx="105156" cy="105156"/>
          </a:xfrm>
          <a:prstGeom prst="rect">
            <a:avLst/>
          </a:prstGeom>
        </p:spPr>
      </p:pic>
      <p:sp>
        <p:nvSpPr>
          <p:cNvPr id="99" name="Text 76"/>
          <p:cNvSpPr txBox="1"/>
          <p:nvPr/>
        </p:nvSpPr>
        <p:spPr>
          <a:xfrm>
            <a:off x="11265408" y="6462979"/>
            <a:ext cx="58795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Verified </a:t>
            </a:r>
            <a:endParaRPr lang="en-US" sz="800" dirty="0"/>
          </a:p>
        </p:txBody>
      </p:sp>
      <p:pic>
        <p:nvPicPr>
          <p:cNvPr id="100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11093501" y="6484925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00" r="-200" t="0" b="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1619402"/>
            <a:ext cx="5352898" cy="1561795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3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1500" y="3666744"/>
            <a:ext cx="5352898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16200000">
              <a:srgbClr val="000000">
                <a:alpha val="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1500" y="6001207"/>
            <a:ext cx="11067898" cy="400507"/>
          </a:xfrm>
          <a:prstGeom prst="roundRect">
            <a:avLst>
              <a:gd name="adj" fmla="val 6523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" y="381305"/>
            <a:ext cx="110496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Matrix &amp; Dataset Coverage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857707"/>
            <a:ext cx="11049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12-cell evaluation grid across DTD, Oxford-IIIT Pet, and CIFAR-10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500" y="1495044"/>
            <a:ext cx="5333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500" y="1285646"/>
            <a:ext cx="5334610" cy="1618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Characteristics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6598" y="1676095"/>
          <a:ext cx="5143500" cy="1410005"/>
        </p:xfrm>
        <a:graphic>
          <a:graphicData uri="http://schemas.openxmlformats.org/drawingml/2006/table">
            <a:tbl>
              <a:tblPr/>
              <a:tblGrid>
                <a:gridCol w="1131113"/>
                <a:gridCol w="668426"/>
                <a:gridCol w="925373"/>
                <a:gridCol w="2417674"/>
              </a:tblGrid>
              <a:tr h="352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Dataset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Modality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Label Space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Characteristics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DTD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Image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47 classes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Texture cues; rationale stress test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Oxford Pet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Image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 breeds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similarity; fine-grained discrimination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CIFAR-10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Image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classes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5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Coarse ontology; robustness check</a:t>
                      </a:r>
                      <a:endParaRPr lang="en-US" sz="6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895" marR="7589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71500" y="3543300"/>
            <a:ext cx="5333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71500" y="3333902"/>
            <a:ext cx="5334610" cy="1618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Task-Dataset Coverage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6598" y="3743554"/>
          <a:ext cx="5143500" cy="1619402"/>
        </p:xfrm>
        <a:graphic>
          <a:graphicData uri="http://schemas.openxmlformats.org/drawingml/2006/table">
            <a:tbl>
              <a:tblPr/>
              <a:tblGrid>
                <a:gridCol w="2057400"/>
                <a:gridCol w="1028700"/>
                <a:gridCol w="1028700"/>
                <a:gridCol w="1028700"/>
              </a:tblGrid>
              <a:tr h="32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Task Family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DTD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Pet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CIFAR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Finegrained classification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Strict Yes/No QA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32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Population estimation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Grounded reasoning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71500" y="5477256"/>
            <a:ext cx="53346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*Coverage shown for full-grid benchmark config (all tasks × all datasets).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571500" y="5924398"/>
            <a:ext cx="11048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71500" y="5715000"/>
            <a:ext cx="11049610" cy="1618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Constrained Decoding Policies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66598" y="6129223"/>
            <a:ext cx="285658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Classification:</a:t>
            </a:r>
            <a:pPr algn="l" indent="0" marL="0">
              <a:buNone/>
            </a:pPr>
            <a:r>
              <a:rPr lang="en-US" sz="800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schema vocab mask (</a:t>
            </a:r>
            <a:pPr algn="l" indent="0" marL="0">
              <a:buNone/>
            </a:pPr>
            <a:r>
              <a:rPr lang="en-US" sz="8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label_id</a:t>
            </a:r>
            <a:pPr algn="l" indent="0" marL="0">
              <a:buNone/>
            </a:pPr>
            <a:r>
              <a:rPr lang="en-US" sz="800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only)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3873398" y="6129223"/>
            <a:ext cx="2607869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QA:</a:t>
            </a:r>
            <a:pPr algn="l" indent="0" marL="0">
              <a:buNone/>
            </a:pPr>
            <a:r>
              <a:rPr lang="en-US" sz="8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{Yes, No}</a:t>
            </a:r>
            <a:pPr algn="l" indent="0" marL="0">
              <a:buNone/>
            </a:pPr>
            <a:r>
              <a:rPr lang="en-US" sz="800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allowlist, single-token stop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6875374" y="6129223"/>
            <a:ext cx="189372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Population:</a:t>
            </a:r>
            <a:pPr algn="l" indent="0" marL="0">
              <a:buNone/>
            </a:pPr>
            <a:r>
              <a:rPr lang="en-US" sz="800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numeric mask </a:t>
            </a:r>
            <a:pPr algn="l" indent="0" marL="0">
              <a:buNone/>
            </a:pPr>
            <a:r>
              <a:rPr lang="en-US" sz="800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[0..10]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9306763" y="6133795"/>
            <a:ext cx="26417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Reasoning:</a:t>
            </a:r>
            <a:pPr algn="l" indent="0" marL="0">
              <a:buNone/>
            </a:pPr>
            <a:r>
              <a:rPr lang="en-US" sz="800" dirty="0">
                <a:solidFill>
                  <a:srgbClr val="7835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JSON schema + key/type constraints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6429146"/>
            <a:ext cx="110496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Output-space constraints reduce formatting variance so metrics reflect semantic performance.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191402" y="1495044"/>
            <a:ext cx="5715000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191402" y="1285646"/>
            <a:ext cx="5715000" cy="1618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Dataset-Specific Prompt Templates (Compact)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191402" y="1619402"/>
            <a:ext cx="1857146" cy="972007"/>
          </a:xfrm>
          <a:prstGeom prst="roundRect">
            <a:avLst>
              <a:gd name="adj" fmla="val 7378"/>
            </a:avLst>
          </a:prstGeom>
          <a:solidFill>
            <a:srgbClr val="F8FAFC"/>
          </a:solidFill>
          <a:ln/>
        </p:spPr>
      </p:sp>
      <p:sp>
        <p:nvSpPr>
          <p:cNvPr id="26" name="Shape 21"/>
          <p:cNvSpPr/>
          <p:nvPr/>
        </p:nvSpPr>
        <p:spPr>
          <a:xfrm>
            <a:off x="6191402" y="1619402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277356" y="1676095"/>
            <a:ext cx="1714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Finegrained – DTD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6277356" y="1800454"/>
            <a:ext cx="1714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"Classify this texture image. Return `label_id` only from DTD schema. No explanation."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8048549" y="1619402"/>
            <a:ext cx="1857146" cy="972007"/>
          </a:xfrm>
          <a:prstGeom prst="roundRect">
            <a:avLst>
              <a:gd name="adj" fmla="val 7378"/>
            </a:avLst>
          </a:prstGeom>
          <a:solidFill>
            <a:srgbClr val="F8FAFC"/>
          </a:solidFill>
          <a:ln/>
        </p:spPr>
      </p:sp>
      <p:sp>
        <p:nvSpPr>
          <p:cNvPr id="30" name="Shape 25"/>
          <p:cNvSpPr/>
          <p:nvPr/>
        </p:nvSpPr>
        <p:spPr>
          <a:xfrm>
            <a:off x="8048549" y="1619402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134502" y="1676095"/>
            <a:ext cx="1714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Finegrained – Oxford Pet</a:t>
            </a:r>
            <a:endParaRPr lang="en-US" sz="800" dirty="0"/>
          </a:p>
        </p:txBody>
      </p:sp>
      <p:sp>
        <p:nvSpPr>
          <p:cNvPr id="32" name="Text 27"/>
          <p:cNvSpPr txBox="1"/>
          <p:nvPr/>
        </p:nvSpPr>
        <p:spPr>
          <a:xfrm>
            <a:off x="8134502" y="1800454"/>
            <a:ext cx="1714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"Classify this pet image by breed. Return `label_id` only from Oxford-IIIT Pet schema. No explanation."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9905695" y="1619402"/>
            <a:ext cx="2143354" cy="972007"/>
          </a:xfrm>
          <a:prstGeom prst="roundRect">
            <a:avLst>
              <a:gd name="adj" fmla="val 7378"/>
            </a:avLst>
          </a:prstGeom>
          <a:solidFill>
            <a:srgbClr val="F8FAFC"/>
          </a:solidFill>
          <a:ln/>
        </p:spPr>
      </p:sp>
      <p:sp>
        <p:nvSpPr>
          <p:cNvPr id="34" name="Shape 29"/>
          <p:cNvSpPr/>
          <p:nvPr/>
        </p:nvSpPr>
        <p:spPr>
          <a:xfrm>
            <a:off x="9905695" y="1619402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9991649" y="1676095"/>
            <a:ext cx="20007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Finegrained – CIFAR-10</a:t>
            </a:r>
            <a:endParaRPr lang="en-US" sz="800" dirty="0"/>
          </a:p>
        </p:txBody>
      </p:sp>
      <p:sp>
        <p:nvSpPr>
          <p:cNvPr id="36" name="Text 31"/>
          <p:cNvSpPr txBox="1"/>
          <p:nvPr/>
        </p:nvSpPr>
        <p:spPr>
          <a:xfrm>
            <a:off x="9991649" y="1800454"/>
            <a:ext cx="2000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"Classify this image into CIFAR-10 classes. Return `label_id` only. No explanation."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191402" y="2572207"/>
            <a:ext cx="1857146" cy="972007"/>
          </a:xfrm>
          <a:prstGeom prst="roundRect">
            <a:avLst>
              <a:gd name="adj" fmla="val 7378"/>
            </a:avLst>
          </a:prstGeom>
          <a:solidFill>
            <a:srgbClr val="F0FDF4"/>
          </a:solidFill>
          <a:ln/>
        </p:spPr>
      </p:sp>
      <p:sp>
        <p:nvSpPr>
          <p:cNvPr id="38" name="Shape 33"/>
          <p:cNvSpPr/>
          <p:nvPr/>
        </p:nvSpPr>
        <p:spPr>
          <a:xfrm>
            <a:off x="6191402" y="2572207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277356" y="2628900"/>
            <a:ext cx="1714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QA – DTD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6277356" y="2752344"/>
            <a:ext cx="1714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"Question: Is this image `&lt;texture_class&gt;`? Return exactly one token: `Yes` or `No`."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8048549" y="2572207"/>
            <a:ext cx="1857146" cy="972007"/>
          </a:xfrm>
          <a:prstGeom prst="roundRect">
            <a:avLst>
              <a:gd name="adj" fmla="val 7378"/>
            </a:avLst>
          </a:prstGeom>
          <a:solidFill>
            <a:srgbClr val="F0FDF4"/>
          </a:solidFill>
          <a:ln/>
        </p:spPr>
      </p:sp>
      <p:sp>
        <p:nvSpPr>
          <p:cNvPr id="42" name="Shape 37"/>
          <p:cNvSpPr/>
          <p:nvPr/>
        </p:nvSpPr>
        <p:spPr>
          <a:xfrm>
            <a:off x="8048549" y="2572207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134502" y="2628900"/>
            <a:ext cx="1714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QA – Oxford Pet</a:t>
            </a:r>
            <a:endParaRPr lang="en-US" sz="800" dirty="0"/>
          </a:p>
        </p:txBody>
      </p:sp>
      <p:sp>
        <p:nvSpPr>
          <p:cNvPr id="44" name="Text 39"/>
          <p:cNvSpPr txBox="1"/>
          <p:nvPr/>
        </p:nvSpPr>
        <p:spPr>
          <a:xfrm>
            <a:off x="8134502" y="2752344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"Question: Is this image `&lt;breed_name&gt;`? Return exactly one token: `Yes` or `No`."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9905695" y="2572207"/>
            <a:ext cx="2143354" cy="972007"/>
          </a:xfrm>
          <a:prstGeom prst="roundRect">
            <a:avLst>
              <a:gd name="adj" fmla="val 7378"/>
            </a:avLst>
          </a:prstGeom>
          <a:solidFill>
            <a:srgbClr val="F0FDF4"/>
          </a:solidFill>
          <a:ln/>
        </p:spPr>
      </p:sp>
      <p:sp>
        <p:nvSpPr>
          <p:cNvPr id="46" name="Shape 41"/>
          <p:cNvSpPr/>
          <p:nvPr/>
        </p:nvSpPr>
        <p:spPr>
          <a:xfrm>
            <a:off x="9905695" y="2572207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9991649" y="2628900"/>
            <a:ext cx="20007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QA – CIFAR-10</a:t>
            </a:r>
            <a:endParaRPr lang="en-US" sz="800" dirty="0"/>
          </a:p>
        </p:txBody>
      </p:sp>
      <p:sp>
        <p:nvSpPr>
          <p:cNvPr id="48" name="Text 43"/>
          <p:cNvSpPr txBox="1"/>
          <p:nvPr/>
        </p:nvSpPr>
        <p:spPr>
          <a:xfrm>
            <a:off x="9991649" y="2752344"/>
            <a:ext cx="2000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"Question: Is this image `&lt;cifar_class&gt;`? Return exactly one token: `Yes` or `No`."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6191402" y="3524098"/>
            <a:ext cx="1857146" cy="972007"/>
          </a:xfrm>
          <a:prstGeom prst="roundRect">
            <a:avLst>
              <a:gd name="adj" fmla="val 7378"/>
            </a:avLst>
          </a:prstGeom>
          <a:solidFill>
            <a:srgbClr val="FFF7ED"/>
          </a:solidFill>
          <a:ln/>
        </p:spPr>
      </p:sp>
      <p:sp>
        <p:nvSpPr>
          <p:cNvPr id="50" name="Shape 45"/>
          <p:cNvSpPr/>
          <p:nvPr/>
        </p:nvSpPr>
        <p:spPr>
          <a:xfrm>
            <a:off x="6191402" y="3524098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6277356" y="3581705"/>
            <a:ext cx="1714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 – DTD</a:t>
            </a:r>
            <a:endParaRPr lang="en-US" sz="800" dirty="0"/>
          </a:p>
        </p:txBody>
      </p:sp>
      <p:sp>
        <p:nvSpPr>
          <p:cNvPr id="52" name="Text 47"/>
          <p:cNvSpPr txBox="1"/>
          <p:nvPr/>
        </p:nvSpPr>
        <p:spPr>
          <a:xfrm>
            <a:off x="6277356" y="3705149"/>
            <a:ext cx="1714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 this image bag, estimate fraction of `&lt;texture_class&gt;`. Return one integer in `[0..10]` only."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8048549" y="3524098"/>
            <a:ext cx="1857146" cy="972007"/>
          </a:xfrm>
          <a:prstGeom prst="roundRect">
            <a:avLst>
              <a:gd name="adj" fmla="val 7378"/>
            </a:avLst>
          </a:prstGeom>
          <a:solidFill>
            <a:srgbClr val="FFF7ED"/>
          </a:solidFill>
          <a:ln/>
        </p:spPr>
      </p:sp>
      <p:sp>
        <p:nvSpPr>
          <p:cNvPr id="54" name="Shape 49"/>
          <p:cNvSpPr/>
          <p:nvPr/>
        </p:nvSpPr>
        <p:spPr>
          <a:xfrm>
            <a:off x="8048549" y="3524098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8134502" y="3581705"/>
            <a:ext cx="1714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 – Oxford Pet</a:t>
            </a:r>
            <a:endParaRPr lang="en-US" sz="800" dirty="0"/>
          </a:p>
        </p:txBody>
      </p:sp>
      <p:sp>
        <p:nvSpPr>
          <p:cNvPr id="56" name="Text 51"/>
          <p:cNvSpPr txBox="1"/>
          <p:nvPr/>
        </p:nvSpPr>
        <p:spPr>
          <a:xfrm>
            <a:off x="8134502" y="3705149"/>
            <a:ext cx="1714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 this image bag, estimate fraction of `&lt;breed_name&gt;`. Return one integer in `[0..10]` only."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9905695" y="3524098"/>
            <a:ext cx="2143354" cy="972007"/>
          </a:xfrm>
          <a:prstGeom prst="roundRect">
            <a:avLst>
              <a:gd name="adj" fmla="val 7378"/>
            </a:avLst>
          </a:prstGeom>
          <a:solidFill>
            <a:srgbClr val="FFF7ED"/>
          </a:solidFill>
          <a:ln/>
        </p:spPr>
      </p:sp>
      <p:sp>
        <p:nvSpPr>
          <p:cNvPr id="58" name="Shape 53"/>
          <p:cNvSpPr/>
          <p:nvPr/>
        </p:nvSpPr>
        <p:spPr>
          <a:xfrm>
            <a:off x="9905695" y="3524098"/>
            <a:ext cx="28346" cy="972007"/>
          </a:xfrm>
          <a:prstGeom prst="roundRect">
            <a:avLst>
              <a:gd name="adj" fmla="val 25300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9991649" y="3581705"/>
            <a:ext cx="20007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 – CIFAR-10</a:t>
            </a:r>
            <a:endParaRPr lang="en-US" sz="800" dirty="0"/>
          </a:p>
        </p:txBody>
      </p:sp>
      <p:sp>
        <p:nvSpPr>
          <p:cNvPr id="60" name="Text 55"/>
          <p:cNvSpPr txBox="1"/>
          <p:nvPr/>
        </p:nvSpPr>
        <p:spPr>
          <a:xfrm>
            <a:off x="9991649" y="3705149"/>
            <a:ext cx="200070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 this image bag, estimate fraction of `&lt;cifar_class&gt;`. Return one integer in `[0..10]` only."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6191402" y="4476902"/>
            <a:ext cx="1857146" cy="1162202"/>
          </a:xfrm>
          <a:prstGeom prst="roundRect">
            <a:avLst>
              <a:gd name="adj" fmla="val 5159"/>
            </a:avLst>
          </a:prstGeom>
          <a:solidFill>
            <a:srgbClr val="F3E8FF"/>
          </a:solidFill>
          <a:ln/>
        </p:spPr>
      </p:sp>
      <p:sp>
        <p:nvSpPr>
          <p:cNvPr id="62" name="Shape 57"/>
          <p:cNvSpPr/>
          <p:nvPr/>
        </p:nvSpPr>
        <p:spPr>
          <a:xfrm>
            <a:off x="6191402" y="4476902"/>
            <a:ext cx="28346" cy="1162202"/>
          </a:xfrm>
          <a:prstGeom prst="roundRect">
            <a:avLst>
              <a:gd name="adj" fmla="val 21153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277356" y="4533595"/>
            <a:ext cx="1714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– DTD</a:t>
            </a:r>
            <a:endParaRPr lang="en-US" sz="800" dirty="0"/>
          </a:p>
        </p:txBody>
      </p:sp>
      <p:sp>
        <p:nvSpPr>
          <p:cNvPr id="64" name="Text 59"/>
          <p:cNvSpPr txBox="1"/>
          <p:nvPr/>
        </p:nvSpPr>
        <p:spPr>
          <a:xfrm>
            <a:off x="6277356" y="4657954"/>
            <a:ext cx="1714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JSON only: { \"answer\": \"&lt;label_id&gt;\", \"rationale\": \"&lt;texture-grounded evidence sentence&gt;\" }"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8048549" y="4476902"/>
            <a:ext cx="1857146" cy="1162202"/>
          </a:xfrm>
          <a:prstGeom prst="roundRect">
            <a:avLst>
              <a:gd name="adj" fmla="val 5159"/>
            </a:avLst>
          </a:prstGeom>
          <a:solidFill>
            <a:srgbClr val="F3E8FF"/>
          </a:solidFill>
          <a:ln/>
        </p:spPr>
      </p:sp>
      <p:sp>
        <p:nvSpPr>
          <p:cNvPr id="66" name="Shape 61"/>
          <p:cNvSpPr/>
          <p:nvPr/>
        </p:nvSpPr>
        <p:spPr>
          <a:xfrm>
            <a:off x="8048549" y="4476902"/>
            <a:ext cx="28346" cy="1162202"/>
          </a:xfrm>
          <a:prstGeom prst="roundRect">
            <a:avLst>
              <a:gd name="adj" fmla="val 21153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8134502" y="4533595"/>
            <a:ext cx="171450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– Oxford Pet</a:t>
            </a:r>
            <a:endParaRPr lang="en-US" sz="800" dirty="0"/>
          </a:p>
        </p:txBody>
      </p:sp>
      <p:sp>
        <p:nvSpPr>
          <p:cNvPr id="68" name="Text 63"/>
          <p:cNvSpPr txBox="1"/>
          <p:nvPr/>
        </p:nvSpPr>
        <p:spPr>
          <a:xfrm>
            <a:off x="8134502" y="4657954"/>
            <a:ext cx="1714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JSON only: { \"answer\": \"&lt;label_id&gt;\", \"rationale\": \"&lt;breed-grounded evidence sentence&gt;\" }"</a:t>
            </a:r>
            <a:endParaRPr lang="en-US" sz="800" dirty="0"/>
          </a:p>
        </p:txBody>
      </p:sp>
      <p:sp>
        <p:nvSpPr>
          <p:cNvPr id="69" name="Shape 64"/>
          <p:cNvSpPr/>
          <p:nvPr/>
        </p:nvSpPr>
        <p:spPr>
          <a:xfrm>
            <a:off x="9905695" y="4476902"/>
            <a:ext cx="2143354" cy="1162202"/>
          </a:xfrm>
          <a:prstGeom prst="roundRect">
            <a:avLst>
              <a:gd name="adj" fmla="val 5159"/>
            </a:avLst>
          </a:prstGeom>
          <a:solidFill>
            <a:srgbClr val="F3E8FF"/>
          </a:solidFill>
          <a:ln/>
        </p:spPr>
      </p:sp>
      <p:sp>
        <p:nvSpPr>
          <p:cNvPr id="70" name="Shape 65"/>
          <p:cNvSpPr/>
          <p:nvPr/>
        </p:nvSpPr>
        <p:spPr>
          <a:xfrm>
            <a:off x="9905695" y="4476902"/>
            <a:ext cx="28346" cy="1162202"/>
          </a:xfrm>
          <a:prstGeom prst="roundRect">
            <a:avLst>
              <a:gd name="adj" fmla="val 21153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9991649" y="4533595"/>
            <a:ext cx="20007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– CIFAR-10</a:t>
            </a:r>
            <a:endParaRPr lang="en-US" sz="800" dirty="0"/>
          </a:p>
        </p:txBody>
      </p:sp>
      <p:sp>
        <p:nvSpPr>
          <p:cNvPr id="72" name="Text 67"/>
          <p:cNvSpPr txBox="1"/>
          <p:nvPr/>
        </p:nvSpPr>
        <p:spPr>
          <a:xfrm>
            <a:off x="9991649" y="4657954"/>
            <a:ext cx="200070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JSON only: { \"answer\": \"&lt;label_id&gt;\", \"rationale\": \"&lt;object-grounded evidence sentence&gt;\" }"</a:t>
            </a:r>
            <a:endParaRPr lang="en-US" sz="800" dirty="0"/>
          </a:p>
        </p:txBody>
      </p:sp>
      <p:sp>
        <p:nvSpPr>
          <p:cNvPr id="73" name="Text 68"/>
          <p:cNvSpPr txBox="1"/>
          <p:nvPr/>
        </p:nvSpPr>
        <p:spPr>
          <a:xfrm>
            <a:off x="8762695" y="6381598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1305" y="228600"/>
            <a:ext cx="6010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Benchmark Snapshot (Artifact-Backed)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3154" y="609905"/>
            <a:ext cx="5162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update, not final unified paper table 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305" y="634594"/>
            <a:ext cx="123444" cy="1234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16107" y="228600"/>
            <a:ext cx="895198" cy="342900"/>
          </a:xfrm>
          <a:prstGeom prst="roundRect">
            <a:avLst>
              <a:gd name="adj" fmla="val 118519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231575" y="314554"/>
            <a:ext cx="63459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78870" y="338328"/>
            <a:ext cx="114300" cy="1143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1305" y="875995"/>
            <a:ext cx="11430000" cy="3191256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2551" y="1037844"/>
            <a:ext cx="10896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Comparison 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3154" y="1073506"/>
            <a:ext cx="133502" cy="13350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154" y="1352398"/>
          <a:ext cx="11106302" cy="2553005"/>
        </p:xfrm>
        <a:graphic>
          <a:graphicData uri="http://schemas.openxmlformats.org/drawingml/2006/table">
            <a:tbl>
              <a:tblPr/>
              <a:tblGrid>
                <a:gridCol w="1553566"/>
                <a:gridCol w="1110082"/>
                <a:gridCol w="1110082"/>
                <a:gridCol w="1110082"/>
                <a:gridCol w="1110082"/>
                <a:gridCol w="1553566"/>
                <a:gridCol w="3550615"/>
              </a:tblGrid>
              <a:tr h="319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Method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Finegrained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Strict Yes/No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Population ECE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Population MAE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Grounded Generation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Takeaway</a:t>
                      </a:r>
                      <a:endParaRPr lang="en-US" sz="8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9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LLM-only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0.093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0.230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0.287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0.142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0.012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visual grounding; population poor; grounded rationale metrics near zero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LoRA finetune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0.412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0.953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0.061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0.023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0.318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 local artifact set not competitive on finegrained tasks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9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GPT/VLM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0.914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0.897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0.031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0.023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0.842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 on some coarse settings; not consistent upper bound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Orig Llamdex pre_attn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0.756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0.938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0.156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0.020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0.969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Smoke benchmark with expert_only upload - all 4 tasks completed successfully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9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post_attn_router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0.625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0.984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0.062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0.020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0.923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Strong current default; best for grounded generation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3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post_attn(every layer)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0.391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0.984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0.156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0.020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1.000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Every-layer injection - perfect grounded generation score (1.0)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9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4755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pre_ffn_router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0.944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0.891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0.042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0.020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dirty="0">
                          <a:solidFill>
                            <a:srgbClr val="1E293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0.925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Competitive on classification; grounded behavior under validation</a:t>
                      </a:r>
                      <a:endParaRPr lang="en-US" sz="1200" dirty="0"/>
                    </a:p>
                  </a:txBody>
                  <a:tcPr marL="114300" marR="114300" marT="57607" marB="576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381305" y="4667098"/>
            <a:ext cx="11430000" cy="1410005"/>
          </a:xfrm>
          <a:prstGeom prst="roundRect">
            <a:avLst>
              <a:gd name="adj" fmla="val 1051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70839" y="4867351"/>
            <a:ext cx="10840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580644" y="4905756"/>
            <a:ext cx="114300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80644" y="5210251"/>
            <a:ext cx="53245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safest conclusion: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580644" y="5480914"/>
            <a:ext cx="53245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post_attn is the more reliable default for grounded reasoning, while every-layer injection offers a significant boost to grounded generation at the cost of finegrained performance.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6286500" y="5210251"/>
            <a:ext cx="53245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pre_ffn status: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6286500" y="5480914"/>
            <a:ext cx="53245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Remains promising for classification tasks but unstable across reruns. Requires further validation to establish robustness.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1305" y="228600"/>
            <a:ext cx="58393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 and Research Timeline (Q2 2026)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609905"/>
            <a:ext cx="5153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tracks and deliverables for the upcoming quarter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20" r="-20" t="0" b="0"/>
          <a:stretch/>
        </p:blipFill>
        <p:spPr>
          <a:xfrm>
            <a:off x="10487254" y="228600"/>
            <a:ext cx="1324051" cy="3429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487254" y="228600"/>
            <a:ext cx="1324051" cy="342900"/>
          </a:xfrm>
          <a:prstGeom prst="roundRect">
            <a:avLst>
              <a:gd name="adj" fmla="val 118519"/>
            </a:avLst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773461" y="228600"/>
            <a:ext cx="1037844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15 - May 05 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178" b="-8178"/>
          <a:stretch/>
        </p:blipFill>
        <p:spPr>
          <a:xfrm>
            <a:off x="10649102" y="338328"/>
            <a:ext cx="85954" cy="1143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1305" y="857707"/>
            <a:ext cx="11430000" cy="2000707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24205" y="1019556"/>
            <a:ext cx="15965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Timeline 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3478" b="-13478"/>
          <a:stretch/>
        </p:blipFill>
        <p:spPr>
          <a:xfrm>
            <a:off x="543154" y="1055218"/>
            <a:ext cx="105156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324137" y="1040587"/>
            <a:ext cx="28017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tracks allowed; critical path highlighted 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170" b="-11170"/>
          <a:stretch/>
        </p:blipFill>
        <p:spPr>
          <a:xfrm>
            <a:off x="9200693" y="1063447"/>
            <a:ext cx="85954" cy="1051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19049" y="1333195"/>
            <a:ext cx="1905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</a:t>
            </a:r>
            <a:endParaRPr lang="en-US" sz="800" dirty="0"/>
          </a:p>
        </p:txBody>
      </p:sp>
      <p:sp>
        <p:nvSpPr>
          <p:cNvPr id="16" name="Text 10"/>
          <p:cNvSpPr txBox="1"/>
          <p:nvPr/>
        </p:nvSpPr>
        <p:spPr>
          <a:xfrm>
            <a:off x="2600554" y="13331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15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3740810" y="13331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22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4881982" y="13331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29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6022238" y="13331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05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7162495" y="13331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12</a:t>
            </a:r>
            <a:endParaRPr lang="en-US" sz="800" dirty="0"/>
          </a:p>
        </p:txBody>
      </p:sp>
      <p:sp>
        <p:nvSpPr>
          <p:cNvPr id="21" name="Text 15"/>
          <p:cNvSpPr txBox="1"/>
          <p:nvPr/>
        </p:nvSpPr>
        <p:spPr>
          <a:xfrm>
            <a:off x="8303666" y="13331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19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9443923" y="13331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26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0585094" y="13331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05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43154" y="166695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14146" y="1552651"/>
            <a:ext cx="17437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 Objective Improvements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523744" y="1591056"/>
            <a:ext cx="3381451" cy="267005"/>
          </a:xfrm>
          <a:prstGeom prst="roundRect">
            <a:avLst>
              <a:gd name="adj" fmla="val 9784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2600554" y="1645006"/>
            <a:ext cx="5029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weeks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5641848" y="1659636"/>
            <a:ext cx="23317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974690" y="1591056"/>
            <a:ext cx="4524451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43154" y="1971446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14146" y="1943100"/>
            <a:ext cx="204094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 &amp; Anti-Hallucination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2523744" y="1895551"/>
            <a:ext cx="4524451" cy="267005"/>
          </a:xfrm>
          <a:prstGeom prst="roundRect">
            <a:avLst>
              <a:gd name="adj" fmla="val 97847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2600554" y="1950415"/>
            <a:ext cx="5047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weeks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6669634" y="1964131"/>
            <a:ext cx="35478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7125005" y="1895551"/>
            <a:ext cx="3381451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43154" y="2238451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14146" y="2210105"/>
            <a:ext cx="204094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Cross-Modal &amp; Dataset Scaling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2523744" y="2162556"/>
            <a:ext cx="5676595" cy="267005"/>
          </a:xfrm>
          <a:prstGeom prst="roundRect">
            <a:avLst>
              <a:gd name="adj" fmla="val 97847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2600554" y="2216506"/>
            <a:ext cx="50474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7874813" y="2231136"/>
            <a:ext cx="2578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8274406" y="2162556"/>
            <a:ext cx="2229307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43154" y="2505456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14146" y="2476195"/>
            <a:ext cx="15307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QA Automation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2523744" y="2428646"/>
            <a:ext cx="3381451" cy="267005"/>
          </a:xfrm>
          <a:prstGeom prst="roundRect">
            <a:avLst>
              <a:gd name="adj" fmla="val 97847"/>
            </a:avLst>
          </a:prstGeom>
          <a:solidFill>
            <a:srgbClr val="6B72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2600554" y="2483510"/>
            <a:ext cx="5029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weeks</a:t>
            </a:r>
            <a:endParaRPr lang="en-US" sz="800" dirty="0"/>
          </a:p>
        </p:txBody>
      </p:sp>
      <p:sp>
        <p:nvSpPr>
          <p:cNvPr id="46" name="Text 40"/>
          <p:cNvSpPr txBox="1"/>
          <p:nvPr/>
        </p:nvSpPr>
        <p:spPr>
          <a:xfrm>
            <a:off x="5628132" y="2498141"/>
            <a:ext cx="23591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Gray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5974690" y="2428646"/>
            <a:ext cx="4524451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381305" y="3200400"/>
            <a:ext cx="8419795" cy="1019556"/>
          </a:xfrm>
          <a:prstGeom prst="roundRect">
            <a:avLst>
              <a:gd name="adj" fmla="val 134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676656" y="3323844"/>
            <a:ext cx="8001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Criteria </a:t>
            </a:r>
            <a:endParaRPr lang="en-US" sz="90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6791" b="-6791"/>
          <a:stretch/>
        </p:blipFill>
        <p:spPr>
          <a:xfrm>
            <a:off x="504749" y="3349447"/>
            <a:ext cx="95098" cy="123444"/>
          </a:xfrm>
          <a:prstGeom prst="rect">
            <a:avLst/>
          </a:prstGeom>
        </p:spPr>
      </p:pic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170" b="-11170"/>
          <a:stretch/>
        </p:blipFill>
        <p:spPr>
          <a:xfrm>
            <a:off x="504749" y="3612794"/>
            <a:ext cx="85954" cy="105156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705002" y="3586277"/>
            <a:ext cx="41678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 improvements:</a:t>
            </a:r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Higher accuracy with equal or better calibration</a:t>
            </a:r>
            <a:endParaRPr lang="en-US" sz="800" dirty="0"/>
          </a:p>
        </p:txBody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170" b="-11170"/>
          <a:stretch/>
        </p:blipFill>
        <p:spPr>
          <a:xfrm>
            <a:off x="4629607" y="3612794"/>
            <a:ext cx="85954" cy="1051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4828946" y="3586277"/>
            <a:ext cx="38935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Anti-hallucination:</a:t>
            </a:r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Lower hallucination rate at fixed task accuracy</a:t>
            </a:r>
            <a:endParaRPr lang="en-US" sz="80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170" b="-11170"/>
          <a:stretch/>
        </p:blipFill>
        <p:spPr>
          <a:xfrm>
            <a:off x="504749" y="3902659"/>
            <a:ext cx="85954" cy="10515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705002" y="3877056"/>
            <a:ext cx="31171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Cross-modal transfer:</a:t>
            </a:r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Minimal drop across domains</a:t>
            </a:r>
            <a:endParaRPr lang="en-US" sz="8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170" b="-11170"/>
          <a:stretch/>
        </p:blipFill>
        <p:spPr>
          <a:xfrm>
            <a:off x="4629607" y="3931006"/>
            <a:ext cx="85954" cy="105156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4828946" y="3877056"/>
            <a:ext cx="3029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QA:</a:t>
            </a:r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Zero flagged uploads in adversarial bundle audit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8953805" y="3086100"/>
            <a:ext cx="2857500" cy="11430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9249156" y="3209544"/>
            <a:ext cx="2438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 </a:t>
            </a:r>
            <a:endParaRPr lang="en-US" sz="90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6791" b="-6791"/>
          <a:stretch/>
        </p:blipFill>
        <p:spPr>
          <a:xfrm>
            <a:off x="9077249" y="3235147"/>
            <a:ext cx="95098" cy="123444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9077249" y="3471977"/>
            <a:ext cx="26106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Ablation reports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Open manifests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Reproducible configs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Benchmark results 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2026-04-26T17:12:43Z</dcterms:created>
  <dcterms:modified xsi:type="dcterms:W3CDTF">2026-04-26T17:12:43Z</dcterms:modified>
</cp:coreProperties>
</file>